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Mono"/>
      <p:regular r:id="rId22"/>
      <p:bold r:id="rId23"/>
      <p:italic r:id="rId24"/>
      <p:boldItalic r:id="rId25"/>
    </p:embeddedFont>
    <p:embeddedFont>
      <p:font typeface="Open Sans Light"/>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59">
          <p15:clr>
            <a:srgbClr val="747775"/>
          </p15:clr>
        </p15:guide>
        <p15:guide id="2" pos="5522">
          <p15:clr>
            <a:srgbClr val="747775"/>
          </p15:clr>
        </p15:guide>
        <p15:guide id="3" orient="horz" pos="764">
          <p15:clr>
            <a:srgbClr val="747775"/>
          </p15:clr>
        </p15:guide>
        <p15:guide id="4" orient="horz" pos="2478">
          <p15:clr>
            <a:srgbClr val="747775"/>
          </p15:clr>
        </p15:guide>
        <p15:guide id="5" orient="horz" pos="2615">
          <p15:clr>
            <a:srgbClr val="747775"/>
          </p15:clr>
        </p15:guide>
        <p15:guide id="6" orient="horz" pos="3023">
          <p15:clr>
            <a:srgbClr val="747775"/>
          </p15:clr>
        </p15:guide>
        <p15:guide id="7" pos="1813">
          <p15:clr>
            <a:srgbClr val="747775"/>
          </p15:clr>
        </p15:guide>
        <p15:guide id="8" pos="1950">
          <p15:clr>
            <a:srgbClr val="747775"/>
          </p15:clr>
        </p15:guide>
        <p15:guide id="9" pos="3652">
          <p15:clr>
            <a:srgbClr val="747775"/>
          </p15:clr>
        </p15:guide>
        <p15:guide id="10" pos="3794">
          <p15:clr>
            <a:srgbClr val="747775"/>
          </p15:clr>
        </p15:guide>
        <p15:guide id="11"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394FD9-8A9B-4839-99E5-51DF96C5A99C}">
  <a:tblStyle styleId="{7A394FD9-8A9B-4839-99E5-51DF96C5A99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9"/>
        <p:guide pos="5522"/>
        <p:guide pos="764" orient="horz"/>
        <p:guide pos="2478" orient="horz"/>
        <p:guide pos="2615" orient="horz"/>
        <p:guide pos="3023" orient="horz"/>
        <p:guide pos="1813"/>
        <p:guide pos="1950"/>
        <p:guide pos="3652"/>
        <p:guide pos="3794"/>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Mono-regular.fntdata"/><Relationship Id="rId21" Type="http://schemas.openxmlformats.org/officeDocument/2006/relationships/slide" Target="slides/slide15.xml"/><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Light-regular.fntdata"/><Relationship Id="rId25" Type="http://schemas.openxmlformats.org/officeDocument/2006/relationships/font" Target="fonts/RobotoMono-boldItalic.fntdata"/><Relationship Id="rId28" Type="http://schemas.openxmlformats.org/officeDocument/2006/relationships/font" Target="fonts/OpenSansLight-italic.fntdata"/><Relationship Id="rId27" Type="http://schemas.openxmlformats.org/officeDocument/2006/relationships/font" Target="fonts/OpenSansLigh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Light-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5.xml"/><Relationship Id="rId33" Type="http://schemas.openxmlformats.org/officeDocument/2006/relationships/font" Target="fonts/OpenSans-boldItalic.fntdata"/><Relationship Id="rId10" Type="http://schemas.openxmlformats.org/officeDocument/2006/relationships/slide" Target="slides/slide4.xml"/><Relationship Id="rId32"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45d6ec7d82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g345d6ec7d82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p:txBody>
      </p:sp>
      <p:sp>
        <p:nvSpPr>
          <p:cNvPr id="51" name="Google Shape;51;g345d6ec7d82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45d6ec7d8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45d6ec7d82_0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4fb9a99c1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4fb9a99c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4fb9a99c13_0_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140bf91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140bf91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eb2d9e87c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g3eeb2d9e87c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1200" u="none" cap="none" strike="noStrike">
                <a:solidFill>
                  <a:schemeClr val="dk1"/>
                </a:solidFill>
                <a:latin typeface="Arial"/>
                <a:ea typeface="Arial"/>
                <a:cs typeface="Arial"/>
                <a:sym typeface="Arial"/>
              </a:rPr>
              <a:t>Welcome to Lesson 3 — Supervised Learning Foundations. This is the most production-relevant lesson in the course. Today: preprocessing, training, evaluation, and the business-aware threshold choice. Same 3-hour structure as L01 and L02 — ~90 min slides + ~90 min hands-on with three slim notebooks.</a:t>
            </a:r>
            <a:endParaRPr/>
          </a:p>
        </p:txBody>
      </p:sp>
      <p:sp>
        <p:nvSpPr>
          <p:cNvPr id="80" name="Google Shape;80;g3eeb2d9e87c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eb2d9e87c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g3eeb2d9e87c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Quick recap. End of L02, Marcus asked Sarah: 'can you train your own model on NorthStar data?' That brief is this week's work. Sarah received a new dataset: 10,000 customers, 11 features, target = churned. By Friday: a working classifier + honest metrics + a recommendation on how to use it.</a:t>
            </a:r>
            <a:endParaRPr/>
          </a:p>
        </p:txBody>
      </p:sp>
      <p:sp>
        <p:nvSpPr>
          <p:cNvPr id="90" name="Google Shape;90;g3eeb2d9e87c_0_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140bf9105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140bf9105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140bf9105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140bf9105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ec6a1ea80_0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g3eec6a1ea80_0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BUT a single tree is rarely the answer. Grow it deep and it memorises training data perfectly — overfits. Grow it shallow and it can't capture the patterns — underfits. Neither extreme works. The fix is ENSEMBLES: train many trees and combine them.</a:t>
            </a:r>
            <a:endParaRPr/>
          </a:p>
        </p:txBody>
      </p:sp>
      <p:sp>
        <p:nvSpPr>
          <p:cNvPr id="114" name="Google Shape;114;g3eec6a1ea80_0_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140bf9105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140bf9105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ec6a1ea80_0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g3eec6a1ea80_0_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Bagging — Bootstrap Aggregating. The core idea behind Random Forest. Two sources of variation between trees: bootstrap sampling of the ROWS, and random subsampling of FEATURES at each split. Together, they force the trees to specialise so averaging genuinely reduces variance.</a:t>
            </a:r>
            <a:endParaRPr/>
          </a:p>
        </p:txBody>
      </p:sp>
      <p:sp>
        <p:nvSpPr>
          <p:cNvPr id="142" name="Google Shape;142;g3eec6a1ea80_0_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ec6a1ea80_0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g3eec6a1ea80_0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Boosting is the OTHER big ensemble idea. Random Forest trains trees in PARALLEL and averages. Boosting trains them SEQUENTIALLY, where each new tree fits the ERRORS of the previous ensemble. This is what wins Kaggle.</a:t>
            </a:r>
            <a:endParaRPr/>
          </a:p>
        </p:txBody>
      </p:sp>
      <p:sp>
        <p:nvSpPr>
          <p:cNvPr id="159" name="Google Shape;159;g3eec6a1ea80_0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ec6a1ea80_0_5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g3eec6a1ea80_0_5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A classic tradeoff. The most accurate model is usually the least interpretable. Logistic regression is the most explainable; deep neural networks the least. Trees sit in the middle — feature importance is intuitive even when the underlying ensemble is complex.</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Gradient Boosting models are highly accurate but sit further to the right on the "black box" side of the interpretability scale. Unlike a simple Logistic Regression (where you can just look at the weights) or a single Decision Tree (where you can follow the flowchart), a Gradient Boosting model combines hundreds of trees. You can't just "look" at it to understand why it made a specific decision. </a:t>
            </a:r>
            <a:br>
              <a:rPr lang="en-GB" sz="1100">
                <a:solidFill>
                  <a:schemeClr val="dk1"/>
                </a:solidFill>
              </a:rPr>
            </a:br>
            <a:br>
              <a:rPr lang="en-GB" sz="1100">
                <a:solidFill>
                  <a:schemeClr val="dk1"/>
                </a:solidFill>
              </a:rPr>
            </a:br>
            <a:r>
              <a:rPr b="1" lang="en-GB" sz="1100">
                <a:solidFill>
                  <a:schemeClr val="dk1"/>
                </a:solidFill>
              </a:rPr>
              <a:t>SHAP</a:t>
            </a:r>
            <a:r>
              <a:rPr lang="en-GB" sz="1100">
                <a:solidFill>
                  <a:schemeClr val="dk1"/>
                </a:solidFill>
              </a:rPr>
              <a:t> stands for </a:t>
            </a:r>
            <a:r>
              <a:rPr b="1" lang="en-GB" sz="1100">
                <a:solidFill>
                  <a:schemeClr val="dk1"/>
                </a:solidFill>
              </a:rPr>
              <a:t>SH</a:t>
            </a:r>
            <a:r>
              <a:rPr lang="en-GB" sz="1100">
                <a:solidFill>
                  <a:schemeClr val="dk1"/>
                </a:solidFill>
              </a:rPr>
              <a:t>apley </a:t>
            </a:r>
            <a:r>
              <a:rPr b="1" lang="en-GB" sz="1100">
                <a:solidFill>
                  <a:schemeClr val="dk1"/>
                </a:solidFill>
              </a:rPr>
              <a:t>A</a:t>
            </a:r>
            <a:r>
              <a:rPr lang="en-GB" sz="1100">
                <a:solidFill>
                  <a:schemeClr val="dk1"/>
                </a:solidFill>
              </a:rPr>
              <a:t>dditive ex</a:t>
            </a:r>
            <a:r>
              <a:rPr b="1" lang="en-GB" sz="1100">
                <a:solidFill>
                  <a:schemeClr val="dk1"/>
                </a:solidFill>
              </a:rPr>
              <a:t>P</a:t>
            </a:r>
            <a:r>
              <a:rPr lang="en-GB" sz="1100">
                <a:solidFill>
                  <a:schemeClr val="dk1"/>
                </a:solidFill>
              </a:rPr>
              <a:t>lanations. </a:t>
            </a:r>
            <a:r>
              <a:rPr lang="en-GB" sz="1100">
                <a:solidFill>
                  <a:schemeClr val="dk1"/>
                </a:solidFill>
              </a:rPr>
              <a:t>It is a mathematical method used to break down and explain </a:t>
            </a:r>
            <a:r>
              <a:rPr b="1" lang="en-GB" sz="1100">
                <a:solidFill>
                  <a:schemeClr val="dk1"/>
                </a:solidFill>
              </a:rPr>
              <a:t>individual predictions</a:t>
            </a:r>
            <a:r>
              <a:rPr lang="en-GB"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Here is how it works: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1. The "Team Game" Analogy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SHAP is based on cooperative game theory. Imagine your model's prediction is a game, and your features (e.g., Age, Tenure, Usage) are the players working together to achieve a score (the prediction). SHAP calculates the exact "payout" or contribution each player made to the final score, ensuring it's distributed fairly.</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2. How it looks in practice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If your NorthStar GB model predicts that a specific customer has an </a:t>
            </a:r>
            <a:r>
              <a:rPr b="1" lang="en-GB" sz="1100">
                <a:solidFill>
                  <a:schemeClr val="dk1"/>
                </a:solidFill>
              </a:rPr>
              <a:t>85% probability of churning</a:t>
            </a:r>
            <a:r>
              <a:rPr lang="en-GB" sz="1100">
                <a:solidFill>
                  <a:schemeClr val="dk1"/>
                </a:solidFill>
              </a:rPr>
              <a:t>, a SHAP explainer will break down exactly how the model arrived at 85% from the average baseline:</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sz="1100">
                <a:solidFill>
                  <a:schemeClr val="dk1"/>
                </a:solidFill>
              </a:rPr>
              <a:t>Base (Average) Churn Risk:</a:t>
            </a:r>
            <a:r>
              <a:rPr lang="en-GB" sz="1100">
                <a:solidFill>
                  <a:schemeClr val="dk1"/>
                </a:solidFill>
              </a:rPr>
              <a:t> 20%</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+ 40%</a:t>
            </a:r>
            <a:r>
              <a:rPr lang="en-GB" sz="1100">
                <a:solidFill>
                  <a:schemeClr val="dk1"/>
                </a:solidFill>
              </a:rPr>
              <a:t> (Because </a:t>
            </a:r>
            <a:r>
              <a:rPr lang="en-GB" sz="1100">
                <a:solidFill>
                  <a:srgbClr val="188038"/>
                </a:solidFill>
                <a:latin typeface="Roboto Mono"/>
                <a:ea typeface="Roboto Mono"/>
                <a:cs typeface="Roboto Mono"/>
                <a:sym typeface="Roboto Mono"/>
              </a:rPr>
              <a:t>Tenure_Months</a:t>
            </a:r>
            <a:r>
              <a:rPr lang="en-GB" sz="1100">
                <a:solidFill>
                  <a:schemeClr val="dk1"/>
                </a:solidFill>
              </a:rPr>
              <a:t> &lt; 3)</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+ 35%</a:t>
            </a:r>
            <a:r>
              <a:rPr lang="en-GB" sz="1100">
                <a:solidFill>
                  <a:schemeClr val="dk1"/>
                </a:solidFill>
              </a:rPr>
              <a:t> (Because </a:t>
            </a:r>
            <a:r>
              <a:rPr lang="en-GB" sz="1100">
                <a:solidFill>
                  <a:srgbClr val="188038"/>
                </a:solidFill>
                <a:latin typeface="Roboto Mono"/>
                <a:ea typeface="Roboto Mono"/>
                <a:cs typeface="Roboto Mono"/>
                <a:sym typeface="Roboto Mono"/>
              </a:rPr>
              <a:t>Recent_Returns</a:t>
            </a:r>
            <a:r>
              <a:rPr lang="en-GB" sz="1100">
                <a:solidFill>
                  <a:schemeClr val="dk1"/>
                </a:solidFill>
              </a:rPr>
              <a:t> &gt; 5)</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- 10%</a:t>
            </a:r>
            <a:r>
              <a:rPr lang="en-GB" sz="1100">
                <a:solidFill>
                  <a:schemeClr val="dk1"/>
                </a:solidFill>
              </a:rPr>
              <a:t> (Because </a:t>
            </a:r>
            <a:r>
              <a:rPr lang="en-GB" sz="1100">
                <a:solidFill>
                  <a:srgbClr val="188038"/>
                </a:solidFill>
                <a:latin typeface="Roboto Mono"/>
                <a:ea typeface="Roboto Mono"/>
                <a:cs typeface="Roboto Mono"/>
                <a:sym typeface="Roboto Mono"/>
              </a:rPr>
              <a:t>Is_Premium_Member</a:t>
            </a:r>
            <a:r>
              <a:rPr lang="en-GB" sz="1100">
                <a:solidFill>
                  <a:schemeClr val="dk1"/>
                </a:solidFill>
              </a:rPr>
              <a:t> = Yes)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Final Prediction = 85%</a:t>
            </a:r>
            <a:endParaRPr b="1"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300">
                <a:solidFill>
                  <a:schemeClr val="dk1"/>
                </a:solidFill>
              </a:rPr>
              <a:t>3. Local vs. Global Interpretability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GB" sz="1100">
                <a:solidFill>
                  <a:schemeClr val="dk1"/>
                </a:solidFill>
              </a:rPr>
              <a:t>Local (Individual):</a:t>
            </a:r>
            <a:r>
              <a:rPr lang="en-GB" sz="1100">
                <a:solidFill>
                  <a:schemeClr val="dk1"/>
                </a:solidFill>
              </a:rPr>
              <a:t> SHAP's primary superpower is telling you exactly why </a:t>
            </a:r>
            <a:r>
              <a:rPr i="1" lang="en-GB" sz="1100">
                <a:solidFill>
                  <a:schemeClr val="dk1"/>
                </a:solidFill>
              </a:rPr>
              <a:t>one specific row</a:t>
            </a:r>
            <a:r>
              <a:rPr lang="en-GB" sz="1100">
                <a:solidFill>
                  <a:schemeClr val="dk1"/>
                </a:solidFill>
              </a:rPr>
              <a:t> of data got the prediction it did (which is what your slide means by "SHAP values needed for individual predictions").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GB" sz="1100">
                <a:solidFill>
                  <a:schemeClr val="dk1"/>
                </a:solidFill>
              </a:rPr>
              <a:t>Global (Overall):</a:t>
            </a:r>
            <a:r>
              <a:rPr lang="en-GB" sz="1100">
                <a:solidFill>
                  <a:schemeClr val="dk1"/>
                </a:solidFill>
              </a:rPr>
              <a:t> By averaging the absolute SHAP values across </a:t>
            </a:r>
            <a:r>
              <a:rPr i="1" lang="en-GB" sz="1100">
                <a:solidFill>
                  <a:schemeClr val="dk1"/>
                </a:solidFill>
              </a:rPr>
              <a:t>all</a:t>
            </a:r>
            <a:r>
              <a:rPr lang="en-GB" sz="1100">
                <a:solidFill>
                  <a:schemeClr val="dk1"/>
                </a:solidFill>
              </a:rPr>
              <a:t> your customers, you can generate a highly accurate "Feature Importance" chart that tells you which variables drive the model's behavior overall.</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In short, SHAP is the tool you use to safely explain a complex Gradient Boosting model to stakeholders like Marcus, proving that the model isn't just making arbitrary guesses.</a:t>
            </a:r>
            <a:endParaRPr sz="1100">
              <a:solidFill>
                <a:schemeClr val="dk1"/>
              </a:solidFill>
            </a:endParaRPr>
          </a:p>
          <a:p>
            <a:pPr indent="0" lvl="0" marL="0" marR="0" rtl="0" algn="l">
              <a:spcBef>
                <a:spcPts val="1200"/>
              </a:spcBef>
              <a:spcAft>
                <a:spcPts val="0"/>
              </a:spcAft>
              <a:buNone/>
            </a:pPr>
            <a:r>
              <a:t/>
            </a:r>
            <a:endParaRPr sz="1200">
              <a:solidFill>
                <a:schemeClr val="dk1"/>
              </a:solidFill>
            </a:endParaRPr>
          </a:p>
        </p:txBody>
      </p:sp>
      <p:sp>
        <p:nvSpPr>
          <p:cNvPr id="172" name="Google Shape;172;g3eec6a1ea80_0_57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ec6a1ea80_0_6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g3eec6a1ea80_0_6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Marcus's new question — 'can you train your OWN model on NorthStar data?' — is the engine of Lesson 3. L03 introduces the supervised learning workflow proper: train/test split, preprocessing, linear and logistic regression, and the metrics that tell you whether your model is good. Come ready to build your first model from scratch.</a:t>
            </a:r>
            <a:endParaRPr/>
          </a:p>
        </p:txBody>
      </p:sp>
      <p:sp>
        <p:nvSpPr>
          <p:cNvPr id="200" name="Google Shape;200;g3eec6a1ea80_0_69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ec6a1ea80_0_6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g3eec6a1ea80_0_6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200">
                <a:solidFill>
                  <a:schemeClr val="dk1"/>
                </a:solidFill>
                <a:latin typeface="Arial"/>
                <a:ea typeface="Arial"/>
                <a:cs typeface="Arial"/>
                <a:sym typeface="Arial"/>
              </a:rPr>
              <a:t>Closing. L05 next — unsupervised learning, clustering, dimensionality reduction. Before then: Kaggle competition + banking fraud exercises.</a:t>
            </a:r>
            <a:endParaRPr/>
          </a:p>
        </p:txBody>
      </p:sp>
      <p:sp>
        <p:nvSpPr>
          <p:cNvPr id="214" name="Google Shape;214;g3eec6a1ea80_0_6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 name="Google Shape;15;p3"/>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17500" lvl="0" marL="457200" algn="l">
              <a:lnSpc>
                <a:spcPct val="115000"/>
              </a:lnSpc>
              <a:spcBef>
                <a:spcPts val="0"/>
              </a:spcBef>
              <a:spcAft>
                <a:spcPts val="0"/>
              </a:spcAft>
              <a:buClr>
                <a:schemeClr val="dk1"/>
              </a:buClr>
              <a:buSzPts val="1400"/>
              <a:buChar char="•"/>
              <a:defRPr/>
            </a:lvl1pPr>
            <a:lvl2pPr indent="-317500" lvl="1" marL="914400" algn="l">
              <a:lnSpc>
                <a:spcPct val="115000"/>
              </a:lnSpc>
              <a:spcBef>
                <a:spcPts val="1000"/>
              </a:spcBef>
              <a:spcAft>
                <a:spcPts val="0"/>
              </a:spcAft>
              <a:buClr>
                <a:schemeClr val="dk1"/>
              </a:buClr>
              <a:buSzPts val="1400"/>
              <a:buChar char="–"/>
              <a:defRPr/>
            </a:lvl2pPr>
            <a:lvl3pPr indent="-317500" lvl="2" marL="1371600" algn="l">
              <a:lnSpc>
                <a:spcPct val="115000"/>
              </a:lnSpc>
              <a:spcBef>
                <a:spcPts val="1000"/>
              </a:spcBef>
              <a:spcAft>
                <a:spcPts val="0"/>
              </a:spcAft>
              <a:buClr>
                <a:schemeClr val="dk1"/>
              </a:buClr>
              <a:buSzPts val="1400"/>
              <a:buChar char="•"/>
              <a:defRPr/>
            </a:lvl3pPr>
            <a:lvl4pPr indent="-317500" lvl="3" marL="1828800" algn="l">
              <a:lnSpc>
                <a:spcPct val="115000"/>
              </a:lnSpc>
              <a:spcBef>
                <a:spcPts val="1000"/>
              </a:spcBef>
              <a:spcAft>
                <a:spcPts val="0"/>
              </a:spcAft>
              <a:buClr>
                <a:schemeClr val="dk1"/>
              </a:buClr>
              <a:buSzPts val="1400"/>
              <a:buChar char="–"/>
              <a:defRPr/>
            </a:lvl4pPr>
            <a:lvl5pPr indent="-317500" lvl="4" marL="2286000" algn="l">
              <a:lnSpc>
                <a:spcPct val="115000"/>
              </a:lnSpc>
              <a:spcBef>
                <a:spcPts val="1000"/>
              </a:spcBef>
              <a:spcAft>
                <a:spcPts val="0"/>
              </a:spcAft>
              <a:buClr>
                <a:schemeClr val="dk1"/>
              </a:buClr>
              <a:buSzPts val="1400"/>
              <a:buChar char="»"/>
              <a:defRPr/>
            </a:lvl5pPr>
            <a:lvl6pPr indent="-317500" lvl="5" marL="2743200" algn="l">
              <a:lnSpc>
                <a:spcPct val="115000"/>
              </a:lnSpc>
              <a:spcBef>
                <a:spcPts val="1000"/>
              </a:spcBef>
              <a:spcAft>
                <a:spcPts val="0"/>
              </a:spcAft>
              <a:buClr>
                <a:schemeClr val="dk1"/>
              </a:buClr>
              <a:buSzPts val="1400"/>
              <a:buChar char="•"/>
              <a:defRPr/>
            </a:lvl6pPr>
            <a:lvl7pPr indent="-317500" lvl="6" marL="3200400" algn="l">
              <a:lnSpc>
                <a:spcPct val="115000"/>
              </a:lnSpc>
              <a:spcBef>
                <a:spcPts val="1000"/>
              </a:spcBef>
              <a:spcAft>
                <a:spcPts val="0"/>
              </a:spcAft>
              <a:buClr>
                <a:schemeClr val="dk1"/>
              </a:buClr>
              <a:buSzPts val="1400"/>
              <a:buChar char="•"/>
              <a:defRPr/>
            </a:lvl7pPr>
            <a:lvl8pPr indent="-317500" lvl="7" marL="3657600" algn="l">
              <a:lnSpc>
                <a:spcPct val="115000"/>
              </a:lnSpc>
              <a:spcBef>
                <a:spcPts val="1000"/>
              </a:spcBef>
              <a:spcAft>
                <a:spcPts val="0"/>
              </a:spcAft>
              <a:buClr>
                <a:schemeClr val="dk1"/>
              </a:buClr>
              <a:buSzPts val="1400"/>
              <a:buChar char="•"/>
              <a:defRPr/>
            </a:lvl8pPr>
            <a:lvl9pPr indent="-317500" lvl="8" marL="4114800" algn="l">
              <a:lnSpc>
                <a:spcPct val="115000"/>
              </a:lnSpc>
              <a:spcBef>
                <a:spcPts val="1000"/>
              </a:spcBef>
              <a:spcAft>
                <a:spcPts val="1000"/>
              </a:spcAft>
              <a:buClr>
                <a:schemeClr val="dk1"/>
              </a:buClr>
              <a:buSzPts val="1400"/>
              <a:buChar char="•"/>
              <a:defRPr/>
            </a:lvl9pPr>
          </a:lstStyle>
          <a:p/>
        </p:txBody>
      </p:sp>
      <p:sp>
        <p:nvSpPr>
          <p:cNvPr id="16" name="Google Shape;16;p3"/>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3 Content" type="secHead">
  <p:cSld name="SECTION_HEADER">
    <p:spTree>
      <p:nvGrpSpPr>
        <p:cNvPr id="17" name="Shape 17"/>
        <p:cNvGrpSpPr/>
        <p:nvPr/>
      </p:nvGrpSpPr>
      <p:grpSpPr>
        <a:xfrm>
          <a:off x="0" y="0"/>
          <a:ext cx="0" cy="0"/>
          <a:chOff x="0" y="0"/>
          <a:chExt cx="0" cy="0"/>
        </a:xfrm>
      </p:grpSpPr>
      <p:sp>
        <p:nvSpPr>
          <p:cNvPr id="18" name="Google Shape;18;p4"/>
          <p:cNvSpPr/>
          <p:nvPr/>
        </p:nvSpPr>
        <p:spPr>
          <a:xfrm>
            <a:off x="0" y="0"/>
            <a:ext cx="3191700" cy="49278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 name="Google Shape;19;p4"/>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0" name="Google Shape;20;p4"/>
          <p:cNvSpPr txBox="1"/>
          <p:nvPr>
            <p:ph type="title"/>
          </p:nvPr>
        </p:nvSpPr>
        <p:spPr>
          <a:xfrm>
            <a:off x="277025" y="344075"/>
            <a:ext cx="2914800" cy="913800"/>
          </a:xfrm>
          <a:prstGeom prst="rect">
            <a:avLst/>
          </a:prstGeom>
        </p:spPr>
        <p:txBody>
          <a:bodyPr anchorCtr="0" anchor="t" bIns="34275" lIns="68575" spcFirstLastPara="1" rIns="68575" wrap="square" tIns="34275">
            <a:noAutofit/>
          </a:bodyPr>
          <a:lstStyle>
            <a:lvl1pPr lvl="0">
              <a:spcBef>
                <a:spcPts val="0"/>
              </a:spcBef>
              <a:spcAft>
                <a:spcPts val="0"/>
              </a:spcAft>
              <a:buClr>
                <a:schemeClr val="lt1"/>
              </a:buClr>
              <a:buSzPts val="2200"/>
              <a:buNone/>
              <a:defRPr sz="22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4"/>
          <p:cNvSpPr txBox="1"/>
          <p:nvPr>
            <p:ph idx="1" type="subTitle"/>
          </p:nvPr>
        </p:nvSpPr>
        <p:spPr>
          <a:xfrm>
            <a:off x="204500" y="1423350"/>
            <a:ext cx="2987100" cy="3322500"/>
          </a:xfrm>
          <a:prstGeom prst="rect">
            <a:avLst/>
          </a:prstGeom>
        </p:spPr>
        <p:txBody>
          <a:bodyPr anchorCtr="0" anchor="t" bIns="34275" lIns="68575" spcFirstLastPara="1" rIns="68575" wrap="square" tIns="34275">
            <a:normAutofit/>
          </a:bodyPr>
          <a:lstStyle>
            <a:lvl1pPr lvl="0">
              <a:spcBef>
                <a:spcPts val="0"/>
              </a:spcBef>
              <a:spcAft>
                <a:spcPts val="0"/>
              </a:spcAft>
              <a:buClr>
                <a:schemeClr val="lt1"/>
              </a:buClr>
              <a:buSzPts val="2200"/>
              <a:buNone/>
              <a:defRPr b="1" sz="2200">
                <a:solidFill>
                  <a:schemeClr val="lt1"/>
                </a:solidFill>
              </a:defRPr>
            </a:lvl1pPr>
            <a:lvl2pPr lvl="1">
              <a:spcBef>
                <a:spcPts val="1000"/>
              </a:spcBef>
              <a:spcAft>
                <a:spcPts val="0"/>
              </a:spcAft>
              <a:buSzPts val="2200"/>
              <a:buNone/>
              <a:defRPr/>
            </a:lvl2pPr>
            <a:lvl3pPr lvl="2">
              <a:spcBef>
                <a:spcPts val="1000"/>
              </a:spcBef>
              <a:spcAft>
                <a:spcPts val="0"/>
              </a:spcAft>
              <a:buSzPts val="2000"/>
              <a:buNone/>
              <a:defRPr/>
            </a:lvl3pPr>
            <a:lvl4pPr lvl="3">
              <a:spcBef>
                <a:spcPts val="1000"/>
              </a:spcBef>
              <a:spcAft>
                <a:spcPts val="0"/>
              </a:spcAft>
              <a:buSzPts val="1800"/>
              <a:buNone/>
              <a:defRPr/>
            </a:lvl4pPr>
            <a:lvl5pPr lvl="4">
              <a:spcBef>
                <a:spcPts val="1000"/>
              </a:spcBef>
              <a:spcAft>
                <a:spcPts val="0"/>
              </a:spcAft>
              <a:buSzPts val="1600"/>
              <a:buNone/>
              <a:defRPr/>
            </a:lvl5pPr>
            <a:lvl6pPr lvl="5">
              <a:spcBef>
                <a:spcPts val="1000"/>
              </a:spcBef>
              <a:spcAft>
                <a:spcPts val="0"/>
              </a:spcAft>
              <a:buSzPts val="1400"/>
              <a:buNone/>
              <a:defRPr/>
            </a:lvl6pPr>
            <a:lvl7pPr lvl="6">
              <a:spcBef>
                <a:spcPts val="1000"/>
              </a:spcBef>
              <a:spcAft>
                <a:spcPts val="0"/>
              </a:spcAft>
              <a:buSzPts val="1400"/>
              <a:buNone/>
              <a:defRPr/>
            </a:lvl7pPr>
            <a:lvl8pPr lvl="7">
              <a:spcBef>
                <a:spcPts val="1000"/>
              </a:spcBef>
              <a:spcAft>
                <a:spcPts val="0"/>
              </a:spcAft>
              <a:buSzPts val="1400"/>
              <a:buNone/>
              <a:defRPr/>
            </a:lvl8pPr>
            <a:lvl9pPr lvl="8">
              <a:spcBef>
                <a:spcPts val="1000"/>
              </a:spcBef>
              <a:spcAft>
                <a:spcPts val="1000"/>
              </a:spcAft>
              <a:buSzPts val="1400"/>
              <a:buNone/>
              <a:defRPr/>
            </a:lvl9pPr>
          </a:lstStyle>
          <a:p/>
        </p:txBody>
      </p:sp>
      <p:sp>
        <p:nvSpPr>
          <p:cNvPr id="22" name="Google Shape;22;p4"/>
          <p:cNvSpPr txBox="1"/>
          <p:nvPr>
            <p:ph idx="2" type="body"/>
          </p:nvPr>
        </p:nvSpPr>
        <p:spPr>
          <a:xfrm>
            <a:off x="3345900" y="412575"/>
            <a:ext cx="5537400" cy="4418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5"/>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Google Shape;25;p5"/>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2/3 Content">
  <p:cSld name="CUSTOM">
    <p:spTree>
      <p:nvGrpSpPr>
        <p:cNvPr id="26" name="Shape 26"/>
        <p:cNvGrpSpPr/>
        <p:nvPr/>
      </p:nvGrpSpPr>
      <p:grpSpPr>
        <a:xfrm>
          <a:off x="0" y="0"/>
          <a:ext cx="0" cy="0"/>
          <a:chOff x="0" y="0"/>
          <a:chExt cx="0" cy="0"/>
        </a:xfrm>
      </p:grpSpPr>
      <p:sp>
        <p:nvSpPr>
          <p:cNvPr id="27" name="Google Shape;27;p6"/>
          <p:cNvSpPr txBox="1"/>
          <p:nvPr>
            <p:ph type="title"/>
          </p:nvPr>
        </p:nvSpPr>
        <p:spPr>
          <a:xfrm>
            <a:off x="3328025" y="147875"/>
            <a:ext cx="55518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28" name="Google Shape;28;p6"/>
          <p:cNvSpPr/>
          <p:nvPr>
            <p:ph idx="2" type="pic"/>
          </p:nvPr>
        </p:nvSpPr>
        <p:spPr>
          <a:xfrm>
            <a:off x="0" y="0"/>
            <a:ext cx="3063300" cy="4913100"/>
          </a:xfrm>
          <a:prstGeom prst="rect">
            <a:avLst/>
          </a:prstGeom>
          <a:noFill/>
          <a:ln>
            <a:noFill/>
          </a:ln>
        </p:spPr>
      </p:sp>
      <p:sp>
        <p:nvSpPr>
          <p:cNvPr id="29" name="Google Shape;29;p6"/>
          <p:cNvSpPr txBox="1"/>
          <p:nvPr>
            <p:ph idx="1" type="body"/>
          </p:nvPr>
        </p:nvSpPr>
        <p:spPr>
          <a:xfrm>
            <a:off x="3328075" y="975600"/>
            <a:ext cx="5551800" cy="3783300"/>
          </a:xfrm>
          <a:prstGeom prst="rect">
            <a:avLst/>
          </a:prstGeom>
        </p:spPr>
        <p:txBody>
          <a:bodyPr anchorCtr="0" anchor="t" bIns="34275" lIns="68575" spcFirstLastPara="1" rIns="68575" wrap="square" tIns="34275">
            <a:normAutofit/>
          </a:bodyPr>
          <a:lstStyle>
            <a:lvl1pPr indent="-381000" lvl="0" marL="457200">
              <a:spcBef>
                <a:spcPts val="100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2/3 Content">
  <p:cSld name="CUSTOM_1">
    <p:spTree>
      <p:nvGrpSpPr>
        <p:cNvPr id="30" name="Shape 30"/>
        <p:cNvGrpSpPr/>
        <p:nvPr/>
      </p:nvGrpSpPr>
      <p:grpSpPr>
        <a:xfrm>
          <a:off x="0" y="0"/>
          <a:ext cx="0" cy="0"/>
          <a:chOff x="0" y="0"/>
          <a:chExt cx="0" cy="0"/>
        </a:xfrm>
      </p:grpSpPr>
      <p:sp>
        <p:nvSpPr>
          <p:cNvPr id="31" name="Google Shape;31;p7"/>
          <p:cNvSpPr/>
          <p:nvPr>
            <p:ph idx="2" type="pic"/>
          </p:nvPr>
        </p:nvSpPr>
        <p:spPr>
          <a:xfrm>
            <a:off x="6080700" y="0"/>
            <a:ext cx="3063300" cy="4899900"/>
          </a:xfrm>
          <a:prstGeom prst="rect">
            <a:avLst/>
          </a:prstGeom>
          <a:noFill/>
          <a:ln>
            <a:noFill/>
          </a:ln>
        </p:spPr>
      </p:sp>
      <p:sp>
        <p:nvSpPr>
          <p:cNvPr id="32" name="Google Shape;32;p7"/>
          <p:cNvSpPr txBox="1"/>
          <p:nvPr>
            <p:ph idx="1" type="body"/>
          </p:nvPr>
        </p:nvSpPr>
        <p:spPr>
          <a:xfrm>
            <a:off x="376550" y="1006425"/>
            <a:ext cx="5373000" cy="38937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3" name="Google Shape;33;p7"/>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Column Content">
  <p:cSld name="CUSTOM_2">
    <p:spTree>
      <p:nvGrpSpPr>
        <p:cNvPr id="34" name="Shape 34"/>
        <p:cNvGrpSpPr/>
        <p:nvPr/>
      </p:nvGrpSpPr>
      <p:grpSpPr>
        <a:xfrm>
          <a:off x="0" y="0"/>
          <a:ext cx="0" cy="0"/>
          <a:chOff x="0" y="0"/>
          <a:chExt cx="0" cy="0"/>
        </a:xfrm>
      </p:grpSpPr>
      <p:sp>
        <p:nvSpPr>
          <p:cNvPr id="35" name="Google Shape;35;p8"/>
          <p:cNvSpPr txBox="1"/>
          <p:nvPr>
            <p:ph type="title"/>
          </p:nvPr>
        </p:nvSpPr>
        <p:spPr>
          <a:xfrm>
            <a:off x="376550" y="147875"/>
            <a:ext cx="8310000" cy="759900"/>
          </a:xfrm>
          <a:prstGeom prst="rect">
            <a:avLst/>
          </a:prstGeom>
        </p:spPr>
        <p:txBody>
          <a:bodyPr anchorCtr="0" anchor="t"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 name="Google Shape;36;p8"/>
          <p:cNvSpPr txBox="1"/>
          <p:nvPr>
            <p:ph idx="1" type="body"/>
          </p:nvPr>
        </p:nvSpPr>
        <p:spPr>
          <a:xfrm>
            <a:off x="457200" y="875325"/>
            <a:ext cx="3602400" cy="35679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37" name="Google Shape;37;p8"/>
          <p:cNvSpPr txBox="1"/>
          <p:nvPr>
            <p:ph idx="2" type="body"/>
          </p:nvPr>
        </p:nvSpPr>
        <p:spPr>
          <a:xfrm>
            <a:off x="4990000" y="875325"/>
            <a:ext cx="3696900" cy="36861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cxnSp>
        <p:nvCxnSpPr>
          <p:cNvPr id="38" name="Google Shape;38;p8"/>
          <p:cNvCxnSpPr/>
          <p:nvPr/>
        </p:nvCxnSpPr>
        <p:spPr>
          <a:xfrm>
            <a:off x="4572000" y="1052325"/>
            <a:ext cx="0" cy="3390900"/>
          </a:xfrm>
          <a:prstGeom prst="straightConnector1">
            <a:avLst/>
          </a:prstGeom>
          <a:noFill/>
          <a:ln cap="flat" cmpd="sng" w="9525">
            <a:solidFill>
              <a:srgbClr val="C51A4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9"/>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41" name="Google Shape;41;p9"/>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1000"/>
              </a:spcBef>
              <a:spcAft>
                <a:spcPts val="0"/>
              </a:spcAft>
              <a:buClr>
                <a:srgbClr val="888888"/>
              </a:buClr>
              <a:buSzPts val="2800"/>
              <a:buNone/>
              <a:defRPr>
                <a:solidFill>
                  <a:srgbClr val="888888"/>
                </a:solidFill>
              </a:defRPr>
            </a:lvl2pPr>
            <a:lvl3pPr lvl="2" algn="ctr">
              <a:spcBef>
                <a:spcPts val="1000"/>
              </a:spcBef>
              <a:spcAft>
                <a:spcPts val="0"/>
              </a:spcAft>
              <a:buClr>
                <a:srgbClr val="888888"/>
              </a:buClr>
              <a:buSzPts val="2400"/>
              <a:buNone/>
              <a:defRPr>
                <a:solidFill>
                  <a:srgbClr val="888888"/>
                </a:solidFill>
              </a:defRPr>
            </a:lvl3pPr>
            <a:lvl4pPr lvl="3" algn="ctr">
              <a:spcBef>
                <a:spcPts val="1000"/>
              </a:spcBef>
              <a:spcAft>
                <a:spcPts val="0"/>
              </a:spcAft>
              <a:buClr>
                <a:srgbClr val="888888"/>
              </a:buClr>
              <a:buSzPts val="2000"/>
              <a:buNone/>
              <a:defRPr>
                <a:solidFill>
                  <a:srgbClr val="888888"/>
                </a:solidFill>
              </a:defRPr>
            </a:lvl4pPr>
            <a:lvl5pPr lvl="4" algn="ctr">
              <a:spcBef>
                <a:spcPts val="1000"/>
              </a:spcBef>
              <a:spcAft>
                <a:spcPts val="0"/>
              </a:spcAft>
              <a:buClr>
                <a:srgbClr val="888888"/>
              </a:buClr>
              <a:buSzPts val="2000"/>
              <a:buNone/>
              <a:defRPr>
                <a:solidFill>
                  <a:srgbClr val="888888"/>
                </a:solidFill>
              </a:defRPr>
            </a:lvl5pPr>
            <a:lvl6pPr lvl="5" algn="ctr">
              <a:spcBef>
                <a:spcPts val="1000"/>
              </a:spcBef>
              <a:spcAft>
                <a:spcPts val="0"/>
              </a:spcAft>
              <a:buClr>
                <a:srgbClr val="888888"/>
              </a:buClr>
              <a:buSzPts val="2000"/>
              <a:buNone/>
              <a:defRPr>
                <a:solidFill>
                  <a:srgbClr val="888888"/>
                </a:solidFill>
              </a:defRPr>
            </a:lvl6pPr>
            <a:lvl7pPr lvl="6" algn="ctr">
              <a:spcBef>
                <a:spcPts val="1000"/>
              </a:spcBef>
              <a:spcAft>
                <a:spcPts val="0"/>
              </a:spcAft>
              <a:buClr>
                <a:srgbClr val="888888"/>
              </a:buClr>
              <a:buSzPts val="2000"/>
              <a:buNone/>
              <a:defRPr>
                <a:solidFill>
                  <a:srgbClr val="888888"/>
                </a:solidFill>
              </a:defRPr>
            </a:lvl7pPr>
            <a:lvl8pPr lvl="7" algn="ctr">
              <a:spcBef>
                <a:spcPts val="1000"/>
              </a:spcBef>
              <a:spcAft>
                <a:spcPts val="0"/>
              </a:spcAft>
              <a:buClr>
                <a:srgbClr val="888888"/>
              </a:buClr>
              <a:buSzPts val="2000"/>
              <a:buNone/>
              <a:defRPr>
                <a:solidFill>
                  <a:srgbClr val="888888"/>
                </a:solidFill>
              </a:defRPr>
            </a:lvl8pPr>
            <a:lvl9pPr lvl="8" algn="ctr">
              <a:spcBef>
                <a:spcPts val="1000"/>
              </a:spcBef>
              <a:spcAft>
                <a:spcPts val="1000"/>
              </a:spcAft>
              <a:buClr>
                <a:srgbClr val="888888"/>
              </a:buClr>
              <a:buSzPts val="2000"/>
              <a:buNone/>
              <a:defRPr>
                <a:solidFill>
                  <a:srgbClr val="888888"/>
                </a:solidFill>
              </a:defRPr>
            </a:lvl9pPr>
          </a:lstStyle>
          <a:p/>
        </p:txBody>
      </p:sp>
      <p:sp>
        <p:nvSpPr>
          <p:cNvPr id="42" name="Google Shape;42;p9"/>
          <p:cNvSpPr txBox="1"/>
          <p:nvPr>
            <p:ph idx="12" type="sldNum"/>
          </p:nvPr>
        </p:nvSpPr>
        <p:spPr>
          <a:xfrm>
            <a:off x="7982222" y="4886307"/>
            <a:ext cx="704700" cy="273900"/>
          </a:xfrm>
          <a:prstGeom prst="rect">
            <a:avLst/>
          </a:prstGeom>
          <a:noFill/>
          <a:ln>
            <a:noFill/>
          </a:ln>
        </p:spPr>
        <p:txBody>
          <a:bodyPr anchorCtr="0" anchor="t" bIns="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 name="Shape 43"/>
        <p:cNvGrpSpPr/>
        <p:nvPr/>
      </p:nvGrpSpPr>
      <p:grpSpPr>
        <a:xfrm>
          <a:off x="0" y="0"/>
          <a:ext cx="0" cy="0"/>
          <a:chOff x="0" y="0"/>
          <a:chExt cx="0" cy="0"/>
        </a:xfrm>
      </p:grpSpPr>
      <p:sp>
        <p:nvSpPr>
          <p:cNvPr id="44" name="Google Shape;44;p10"/>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lvl1pPr lvl="0">
              <a:spcBef>
                <a:spcPts val="0"/>
              </a:spcBef>
              <a:spcAft>
                <a:spcPts val="0"/>
              </a:spcAft>
              <a:buSzPts val="30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 name="Google Shape;45;p10"/>
          <p:cNvSpPr txBox="1"/>
          <p:nvPr>
            <p:ph idx="1" type="body"/>
          </p:nvPr>
        </p:nvSpPr>
        <p:spPr>
          <a:xfrm>
            <a:off x="311700" y="1152475"/>
            <a:ext cx="8520600" cy="3416400"/>
          </a:xfrm>
          <a:prstGeom prst="rect">
            <a:avLst/>
          </a:prstGeom>
        </p:spPr>
        <p:txBody>
          <a:bodyPr anchorCtr="0" anchor="t" bIns="34275" lIns="68575" spcFirstLastPara="1" rIns="68575" wrap="square" tIns="34275">
            <a:normAutofit/>
          </a:bodyPr>
          <a:lstStyle>
            <a:lvl1pPr indent="-381000" lvl="0" marL="457200">
              <a:spcBef>
                <a:spcPts val="0"/>
              </a:spcBef>
              <a:spcAft>
                <a:spcPts val="0"/>
              </a:spcAft>
              <a:buSzPts val="2400"/>
              <a:buChar char="•"/>
              <a:defRPr/>
            </a:lvl1pPr>
            <a:lvl2pPr indent="-368300" lvl="1" marL="914400">
              <a:spcBef>
                <a:spcPts val="1000"/>
              </a:spcBef>
              <a:spcAft>
                <a:spcPts val="0"/>
              </a:spcAft>
              <a:buSzPts val="2200"/>
              <a:buChar char="–"/>
              <a:defRPr/>
            </a:lvl2pPr>
            <a:lvl3pPr indent="-355600" lvl="2" marL="1371600">
              <a:spcBef>
                <a:spcPts val="1000"/>
              </a:spcBef>
              <a:spcAft>
                <a:spcPts val="0"/>
              </a:spcAft>
              <a:buSzPts val="2000"/>
              <a:buChar char="•"/>
              <a:defRPr/>
            </a:lvl3pPr>
            <a:lvl4pPr indent="-342900" lvl="3" marL="1828800">
              <a:spcBef>
                <a:spcPts val="1000"/>
              </a:spcBef>
              <a:spcAft>
                <a:spcPts val="0"/>
              </a:spcAft>
              <a:buSzPts val="1800"/>
              <a:buChar char="–"/>
              <a:defRPr/>
            </a:lvl4pPr>
            <a:lvl5pPr indent="-330200" lvl="4" marL="2286000">
              <a:spcBef>
                <a:spcPts val="1000"/>
              </a:spcBef>
              <a:spcAft>
                <a:spcPts val="0"/>
              </a:spcAft>
              <a:buSzPts val="1600"/>
              <a:buChar char="»"/>
              <a:defRPr/>
            </a:lvl5pPr>
            <a:lvl6pPr indent="-317500" lvl="5" marL="2743200">
              <a:spcBef>
                <a:spcPts val="1000"/>
              </a:spcBef>
              <a:spcAft>
                <a:spcPts val="0"/>
              </a:spcAft>
              <a:buSzPts val="1400"/>
              <a:buChar char="•"/>
              <a:defRPr/>
            </a:lvl6pPr>
            <a:lvl7pPr indent="-317500" lvl="6" marL="3200400">
              <a:spcBef>
                <a:spcPts val="1000"/>
              </a:spcBef>
              <a:spcAft>
                <a:spcPts val="0"/>
              </a:spcAft>
              <a:buSzPts val="1400"/>
              <a:buChar char="•"/>
              <a:defRPr/>
            </a:lvl7pPr>
            <a:lvl8pPr indent="-317500" lvl="7" marL="3657600">
              <a:spcBef>
                <a:spcPts val="1000"/>
              </a:spcBef>
              <a:spcAft>
                <a:spcPts val="0"/>
              </a:spcAft>
              <a:buSzPts val="1400"/>
              <a:buChar char="•"/>
              <a:defRPr/>
            </a:lvl8pPr>
            <a:lvl9pPr indent="-317500" lvl="8" marL="4114800">
              <a:spcBef>
                <a:spcPts val="1000"/>
              </a:spcBef>
              <a:spcAft>
                <a:spcPts val="1000"/>
              </a:spcAft>
              <a:buSzPts val="1400"/>
              <a:buChar char="•"/>
              <a:defRPr/>
            </a:lvl9pPr>
          </a:lstStyle>
          <a:p/>
        </p:txBody>
      </p:sp>
      <p:sp>
        <p:nvSpPr>
          <p:cNvPr id="46" name="Google Shape;46;p10"/>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7" name="Shape 4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rot="5400000">
            <a:off x="4455600" y="455028"/>
            <a:ext cx="232800" cy="91440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 name="Google Shape;7;p1"/>
          <p:cNvSpPr txBox="1"/>
          <p:nvPr>
            <p:ph type="title"/>
          </p:nvPr>
        </p:nvSpPr>
        <p:spPr>
          <a:xfrm>
            <a:off x="376550" y="147875"/>
            <a:ext cx="8310000" cy="759900"/>
          </a:xfrm>
          <a:prstGeom prst="rect">
            <a:avLst/>
          </a:prstGeom>
          <a:noFill/>
          <a:ln>
            <a:noFill/>
          </a:ln>
        </p:spPr>
        <p:txBody>
          <a:bodyPr anchorCtr="0" anchor="ctr" bIns="34275" lIns="68575" spcFirstLastPara="1" rIns="68575" wrap="square" tIns="34275">
            <a:normAutofit/>
          </a:bodyPr>
          <a:lstStyle>
            <a:lvl1pPr lvl="0" marR="0" rtl="0" algn="l">
              <a:lnSpc>
                <a:spcPct val="115000"/>
              </a:lnSpc>
              <a:spcBef>
                <a:spcPts val="0"/>
              </a:spcBef>
              <a:spcAft>
                <a:spcPts val="0"/>
              </a:spcAft>
              <a:buClr>
                <a:schemeClr val="dk1"/>
              </a:buClr>
              <a:buSzPts val="3000"/>
              <a:buFont typeface="Open Sans Light"/>
              <a:buNone/>
              <a:defRPr i="0" sz="3000" u="none" cap="none" strike="noStrike">
                <a:solidFill>
                  <a:schemeClr val="dk1"/>
                </a:solidFill>
                <a:latin typeface="Open Sans Light"/>
                <a:ea typeface="Open Sans Light"/>
                <a:cs typeface="Open Sans Light"/>
                <a:sym typeface="Open Sans Light"/>
              </a:defRPr>
            </a:lvl1pPr>
            <a:lvl2pPr lvl="1">
              <a:lnSpc>
                <a:spcPct val="115000"/>
              </a:lnSpc>
              <a:spcBef>
                <a:spcPts val="0"/>
              </a:spcBef>
              <a:spcAft>
                <a:spcPts val="0"/>
              </a:spcAft>
              <a:buSzPts val="1100"/>
              <a:buNone/>
              <a:defRPr sz="1400"/>
            </a:lvl2pPr>
            <a:lvl3pPr lvl="2">
              <a:lnSpc>
                <a:spcPct val="115000"/>
              </a:lnSpc>
              <a:spcBef>
                <a:spcPts val="0"/>
              </a:spcBef>
              <a:spcAft>
                <a:spcPts val="0"/>
              </a:spcAft>
              <a:buSzPts val="1100"/>
              <a:buNone/>
              <a:defRPr sz="1400"/>
            </a:lvl3pPr>
            <a:lvl4pPr lvl="3">
              <a:lnSpc>
                <a:spcPct val="115000"/>
              </a:lnSpc>
              <a:spcBef>
                <a:spcPts val="0"/>
              </a:spcBef>
              <a:spcAft>
                <a:spcPts val="0"/>
              </a:spcAft>
              <a:buSzPts val="1100"/>
              <a:buNone/>
              <a:defRPr sz="1400"/>
            </a:lvl4pPr>
            <a:lvl5pPr lvl="4">
              <a:lnSpc>
                <a:spcPct val="115000"/>
              </a:lnSpc>
              <a:spcBef>
                <a:spcPts val="0"/>
              </a:spcBef>
              <a:spcAft>
                <a:spcPts val="0"/>
              </a:spcAft>
              <a:buSzPts val="1100"/>
              <a:buNone/>
              <a:defRPr sz="1400"/>
            </a:lvl5pPr>
            <a:lvl6pPr lvl="5">
              <a:lnSpc>
                <a:spcPct val="115000"/>
              </a:lnSpc>
              <a:spcBef>
                <a:spcPts val="0"/>
              </a:spcBef>
              <a:spcAft>
                <a:spcPts val="0"/>
              </a:spcAft>
              <a:buSzPts val="1100"/>
              <a:buNone/>
              <a:defRPr sz="1400"/>
            </a:lvl6pPr>
            <a:lvl7pPr lvl="6">
              <a:lnSpc>
                <a:spcPct val="115000"/>
              </a:lnSpc>
              <a:spcBef>
                <a:spcPts val="0"/>
              </a:spcBef>
              <a:spcAft>
                <a:spcPts val="0"/>
              </a:spcAft>
              <a:buSzPts val="1100"/>
              <a:buNone/>
              <a:defRPr sz="1400"/>
            </a:lvl7pPr>
            <a:lvl8pPr lvl="7">
              <a:lnSpc>
                <a:spcPct val="115000"/>
              </a:lnSpc>
              <a:spcBef>
                <a:spcPts val="0"/>
              </a:spcBef>
              <a:spcAft>
                <a:spcPts val="0"/>
              </a:spcAft>
              <a:buSzPts val="1100"/>
              <a:buNone/>
              <a:defRPr sz="1400"/>
            </a:lvl8pPr>
            <a:lvl9pPr lvl="8">
              <a:lnSpc>
                <a:spcPct val="115000"/>
              </a:lnSpc>
              <a:spcBef>
                <a:spcPts val="0"/>
              </a:spcBef>
              <a:spcAft>
                <a:spcPts val="0"/>
              </a:spcAft>
              <a:buSzPts val="1100"/>
              <a:buNone/>
              <a:defRPr sz="1400"/>
            </a:lvl9pPr>
          </a:lstStyle>
          <a:p/>
        </p:txBody>
      </p:sp>
      <p:sp>
        <p:nvSpPr>
          <p:cNvPr id="8" name="Google Shape;8;p1"/>
          <p:cNvSpPr txBox="1"/>
          <p:nvPr>
            <p:ph idx="1" type="body"/>
          </p:nvPr>
        </p:nvSpPr>
        <p:spPr>
          <a:xfrm>
            <a:off x="376850" y="987925"/>
            <a:ext cx="8310000" cy="36075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15000"/>
              </a:lnSpc>
              <a:spcBef>
                <a:spcPts val="0"/>
              </a:spcBef>
              <a:spcAft>
                <a:spcPts val="0"/>
              </a:spcAft>
              <a:buClr>
                <a:schemeClr val="dk1"/>
              </a:buClr>
              <a:buSzPts val="2400"/>
              <a:buFont typeface="Open Sans"/>
              <a:buChar char="•"/>
              <a:defRPr i="0" sz="2400" u="none" cap="none" strike="noStrike">
                <a:solidFill>
                  <a:schemeClr val="dk1"/>
                </a:solidFill>
                <a:latin typeface="Open Sans"/>
                <a:ea typeface="Open Sans"/>
                <a:cs typeface="Open Sans"/>
                <a:sym typeface="Open Sans"/>
              </a:defRPr>
            </a:lvl1pPr>
            <a:lvl2pPr indent="-368300" lvl="1" marL="914400" marR="0" rtl="0" algn="l">
              <a:lnSpc>
                <a:spcPct val="115000"/>
              </a:lnSpc>
              <a:spcBef>
                <a:spcPts val="1000"/>
              </a:spcBef>
              <a:spcAft>
                <a:spcPts val="0"/>
              </a:spcAft>
              <a:buClr>
                <a:schemeClr val="dk1"/>
              </a:buClr>
              <a:buSzPts val="2200"/>
              <a:buFont typeface="Open Sans"/>
              <a:buChar char="–"/>
              <a:defRPr i="0" sz="2200" u="none" cap="none" strike="noStrike">
                <a:solidFill>
                  <a:schemeClr val="dk1"/>
                </a:solidFill>
                <a:latin typeface="Open Sans"/>
                <a:ea typeface="Open Sans"/>
                <a:cs typeface="Open Sans"/>
                <a:sym typeface="Open Sans"/>
              </a:defRPr>
            </a:lvl2pPr>
            <a:lvl3pPr indent="-355600" lvl="2" marL="1371600" marR="0" rtl="0" algn="l">
              <a:lnSpc>
                <a:spcPct val="115000"/>
              </a:lnSpc>
              <a:spcBef>
                <a:spcPts val="10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3pPr>
            <a:lvl4pPr indent="-342900" lvl="3" marL="1828800" marR="0" rtl="0" algn="l">
              <a:lnSpc>
                <a:spcPct val="115000"/>
              </a:lnSpc>
              <a:spcBef>
                <a:spcPts val="1000"/>
              </a:spcBef>
              <a:spcAft>
                <a:spcPts val="0"/>
              </a:spcAft>
              <a:buClr>
                <a:schemeClr val="dk1"/>
              </a:buClr>
              <a:buSzPts val="1800"/>
              <a:buFont typeface="Open Sans"/>
              <a:buChar char="–"/>
              <a:defRPr i="0" sz="1800" u="none" cap="none" strike="noStrike">
                <a:solidFill>
                  <a:schemeClr val="dk1"/>
                </a:solidFill>
                <a:latin typeface="Open Sans"/>
                <a:ea typeface="Open Sans"/>
                <a:cs typeface="Open Sans"/>
                <a:sym typeface="Open Sans"/>
              </a:defRPr>
            </a:lvl4pPr>
            <a:lvl5pPr indent="-330200" lvl="4" marL="2286000" marR="0" rtl="0" algn="l">
              <a:lnSpc>
                <a:spcPct val="115000"/>
              </a:lnSpc>
              <a:spcBef>
                <a:spcPts val="1000"/>
              </a:spcBef>
              <a:spcAft>
                <a:spcPts val="0"/>
              </a:spcAft>
              <a:buClr>
                <a:schemeClr val="dk1"/>
              </a:buClr>
              <a:buSzPts val="1600"/>
              <a:buFont typeface="Open Sans"/>
              <a:buChar char="»"/>
              <a:defRPr i="0" sz="16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1000"/>
              </a:spcBef>
              <a:spcAft>
                <a:spcPts val="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1000"/>
              </a:spcBef>
              <a:spcAft>
                <a:spcPts val="1000"/>
              </a:spcAft>
              <a:buClr>
                <a:schemeClr val="dk1"/>
              </a:buClr>
              <a:buSzPts val="1400"/>
              <a:buFont typeface="Open Sans"/>
              <a:buChar char="•"/>
              <a:defRPr i="0" u="none" cap="none" strike="noStrike">
                <a:solidFill>
                  <a:schemeClr val="dk1"/>
                </a:solidFill>
                <a:latin typeface="Open Sans"/>
                <a:ea typeface="Open Sans"/>
                <a:cs typeface="Open Sans"/>
                <a:sym typeface="Open Sans"/>
              </a:defRPr>
            </a:lvl9pPr>
          </a:lstStyle>
          <a:p/>
        </p:txBody>
      </p:sp>
      <p:sp>
        <p:nvSpPr>
          <p:cNvPr id="9" name="Google Shape;9;p1"/>
          <p:cNvSpPr txBox="1"/>
          <p:nvPr>
            <p:ph idx="12" type="sldNum"/>
          </p:nvPr>
        </p:nvSpPr>
        <p:spPr>
          <a:xfrm>
            <a:off x="8175125" y="4616075"/>
            <a:ext cx="8547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1000" u="none" cap="none" strike="noStrike">
                <a:solidFill>
                  <a:srgbClr val="888888"/>
                </a:solidFill>
                <a:latin typeface="Open Sans Light"/>
                <a:ea typeface="Open Sans Light"/>
                <a:cs typeface="Open Sans Light"/>
                <a:sym typeface="Open Sans Light"/>
              </a:defRPr>
            </a:lvl1pPr>
            <a:lvl2pPr indent="0" lvl="1" marL="0" marR="0" rtl="0" algn="r">
              <a:spcBef>
                <a:spcPts val="0"/>
              </a:spcBef>
              <a:buNone/>
              <a:defRPr i="0" sz="1000" u="none" cap="none" strike="noStrike">
                <a:solidFill>
                  <a:srgbClr val="888888"/>
                </a:solidFill>
                <a:latin typeface="Open Sans Light"/>
                <a:ea typeface="Open Sans Light"/>
                <a:cs typeface="Open Sans Light"/>
                <a:sym typeface="Open Sans Light"/>
              </a:defRPr>
            </a:lvl2pPr>
            <a:lvl3pPr indent="0" lvl="2" marL="0" marR="0" rtl="0" algn="r">
              <a:spcBef>
                <a:spcPts val="0"/>
              </a:spcBef>
              <a:buNone/>
              <a:defRPr i="0" sz="1000" u="none" cap="none" strike="noStrike">
                <a:solidFill>
                  <a:srgbClr val="888888"/>
                </a:solidFill>
                <a:latin typeface="Open Sans Light"/>
                <a:ea typeface="Open Sans Light"/>
                <a:cs typeface="Open Sans Light"/>
                <a:sym typeface="Open Sans Light"/>
              </a:defRPr>
            </a:lvl3pPr>
            <a:lvl4pPr indent="0" lvl="3" marL="0" marR="0" rtl="0" algn="r">
              <a:spcBef>
                <a:spcPts val="0"/>
              </a:spcBef>
              <a:buNone/>
              <a:defRPr i="0" sz="1000" u="none" cap="none" strike="noStrike">
                <a:solidFill>
                  <a:srgbClr val="888888"/>
                </a:solidFill>
                <a:latin typeface="Open Sans Light"/>
                <a:ea typeface="Open Sans Light"/>
                <a:cs typeface="Open Sans Light"/>
                <a:sym typeface="Open Sans Light"/>
              </a:defRPr>
            </a:lvl4pPr>
            <a:lvl5pPr indent="0" lvl="4" marL="0" marR="0" rtl="0" algn="r">
              <a:spcBef>
                <a:spcPts val="0"/>
              </a:spcBef>
              <a:buNone/>
              <a:defRPr i="0" sz="1000" u="none" cap="none" strike="noStrike">
                <a:solidFill>
                  <a:srgbClr val="888888"/>
                </a:solidFill>
                <a:latin typeface="Open Sans Light"/>
                <a:ea typeface="Open Sans Light"/>
                <a:cs typeface="Open Sans Light"/>
                <a:sym typeface="Open Sans Light"/>
              </a:defRPr>
            </a:lvl5pPr>
            <a:lvl6pPr indent="0" lvl="5" marL="0" marR="0" rtl="0" algn="r">
              <a:spcBef>
                <a:spcPts val="0"/>
              </a:spcBef>
              <a:buNone/>
              <a:defRPr i="0" sz="1000" u="none" cap="none" strike="noStrike">
                <a:solidFill>
                  <a:srgbClr val="888888"/>
                </a:solidFill>
                <a:latin typeface="Open Sans Light"/>
                <a:ea typeface="Open Sans Light"/>
                <a:cs typeface="Open Sans Light"/>
                <a:sym typeface="Open Sans Light"/>
              </a:defRPr>
            </a:lvl6pPr>
            <a:lvl7pPr indent="0" lvl="6" marL="0" marR="0" rtl="0" algn="r">
              <a:spcBef>
                <a:spcPts val="0"/>
              </a:spcBef>
              <a:buNone/>
              <a:defRPr i="0" sz="1000" u="none" cap="none" strike="noStrike">
                <a:solidFill>
                  <a:srgbClr val="888888"/>
                </a:solidFill>
                <a:latin typeface="Open Sans Light"/>
                <a:ea typeface="Open Sans Light"/>
                <a:cs typeface="Open Sans Light"/>
                <a:sym typeface="Open Sans Light"/>
              </a:defRPr>
            </a:lvl7pPr>
            <a:lvl8pPr indent="0" lvl="7" marL="0" marR="0" rtl="0" algn="r">
              <a:spcBef>
                <a:spcPts val="0"/>
              </a:spcBef>
              <a:buNone/>
              <a:defRPr i="0" sz="1000" u="none" cap="none" strike="noStrike">
                <a:solidFill>
                  <a:srgbClr val="888888"/>
                </a:solidFill>
                <a:latin typeface="Open Sans Light"/>
                <a:ea typeface="Open Sans Light"/>
                <a:cs typeface="Open Sans Light"/>
                <a:sym typeface="Open Sans Light"/>
              </a:defRPr>
            </a:lvl8pPr>
            <a:lvl9pPr indent="0" lvl="8" marL="0" marR="0" rtl="0" algn="r">
              <a:spcBef>
                <a:spcPts val="0"/>
              </a:spcBef>
              <a:buNone/>
              <a:defRPr i="0" sz="10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GB"/>
              <a:t>‹#›</a:t>
            </a:fld>
            <a:endParaRPr/>
          </a:p>
        </p:txBody>
      </p:sp>
      <p:sp>
        <p:nvSpPr>
          <p:cNvPr id="10" name="Google Shape;10;p1"/>
          <p:cNvSpPr txBox="1"/>
          <p:nvPr/>
        </p:nvSpPr>
        <p:spPr>
          <a:xfrm>
            <a:off x="6474250" y="4938050"/>
            <a:ext cx="2670000" cy="1617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600" u="none" cap="none" strike="noStrike">
                <a:solidFill>
                  <a:srgbClr val="FFFFFF"/>
                </a:solidFill>
                <a:latin typeface="Arial"/>
                <a:ea typeface="Arial"/>
                <a:cs typeface="Arial"/>
                <a:sym typeface="Arial"/>
              </a:rPr>
              <a:t>Copyright © 202</a:t>
            </a:r>
            <a:r>
              <a:rPr lang="en-GB" sz="600">
                <a:solidFill>
                  <a:srgbClr val="FFFFFF"/>
                </a:solidFill>
              </a:rPr>
              <a:t>6</a:t>
            </a:r>
            <a:r>
              <a:rPr b="0" i="0" lang="en-GB" sz="600" u="none" cap="none" strike="noStrike">
                <a:solidFill>
                  <a:srgbClr val="FFFFFF"/>
                </a:solidFill>
                <a:latin typeface="Arial"/>
                <a:ea typeface="Arial"/>
                <a:cs typeface="Arial"/>
                <a:sym typeface="Arial"/>
              </a:rPr>
              <a:t> Nanyang Technological University. All rights reserved. </a:t>
            </a:r>
            <a:endParaRPr sz="6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www.youtube.com/watch?v=J4Wdy0Wc_xQ" TargetMode="Externa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descr="A building with a balcony and trees&#10;&#10;Description automatically generated" id="53" name="Google Shape;53;p12"/>
          <p:cNvPicPr preferRelativeResize="0"/>
          <p:nvPr/>
        </p:nvPicPr>
        <p:blipFill rotWithShape="1">
          <a:blip r:embed="rId3">
            <a:alphaModFix/>
          </a:blip>
          <a:srcRect b="0" l="0" r="33271" t="0"/>
          <a:stretch/>
        </p:blipFill>
        <p:spPr>
          <a:xfrm>
            <a:off x="4629241" y="0"/>
            <a:ext cx="4572001" cy="5143501"/>
          </a:xfrm>
          <a:prstGeom prst="rect">
            <a:avLst/>
          </a:prstGeom>
          <a:noFill/>
          <a:ln>
            <a:noFill/>
          </a:ln>
        </p:spPr>
      </p:pic>
      <p:sp>
        <p:nvSpPr>
          <p:cNvPr id="54" name="Google Shape;54;p12"/>
          <p:cNvSpPr/>
          <p:nvPr/>
        </p:nvSpPr>
        <p:spPr>
          <a:xfrm>
            <a:off x="4629240" y="4339244"/>
            <a:ext cx="4572000" cy="804300"/>
          </a:xfrm>
          <a:prstGeom prst="rect">
            <a:avLst/>
          </a:prstGeom>
          <a:solidFill>
            <a:srgbClr val="181C62">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5" name="Google Shape;55;p12"/>
          <p:cNvSpPr/>
          <p:nvPr/>
        </p:nvSpPr>
        <p:spPr>
          <a:xfrm>
            <a:off x="0" y="4339244"/>
            <a:ext cx="4629300" cy="804300"/>
          </a:xfrm>
          <a:prstGeom prst="rect">
            <a:avLst/>
          </a:prstGeom>
          <a:solidFill>
            <a:srgbClr val="181C6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 name="Google Shape;56;p12"/>
          <p:cNvSpPr/>
          <p:nvPr/>
        </p:nvSpPr>
        <p:spPr>
          <a:xfrm>
            <a:off x="1" y="0"/>
            <a:ext cx="342900" cy="5143500"/>
          </a:xfrm>
          <a:prstGeom prst="rect">
            <a:avLst/>
          </a:prstGeom>
          <a:solidFill>
            <a:srgbClr val="C51A4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 name="Google Shape;57;p12"/>
          <p:cNvSpPr txBox="1"/>
          <p:nvPr/>
        </p:nvSpPr>
        <p:spPr>
          <a:xfrm>
            <a:off x="565475" y="1649875"/>
            <a:ext cx="3631800" cy="996900"/>
          </a:xfrm>
          <a:prstGeom prst="rect">
            <a:avLst/>
          </a:prstGeom>
          <a:noFill/>
          <a:ln>
            <a:noFill/>
          </a:ln>
        </p:spPr>
        <p:txBody>
          <a:bodyPr anchorCtr="0" anchor="ctr" bIns="34275" lIns="67500" spcFirstLastPara="1" rIns="68575" wrap="square" tIns="34275">
            <a:noAutofit/>
          </a:bodyPr>
          <a:lstStyle/>
          <a:p>
            <a:pPr indent="0" lvl="0" marL="0" marR="0" rtl="0" algn="l">
              <a:lnSpc>
                <a:spcPct val="115000"/>
              </a:lnSpc>
              <a:spcBef>
                <a:spcPts val="0"/>
              </a:spcBef>
              <a:spcAft>
                <a:spcPts val="0"/>
              </a:spcAft>
              <a:buClr>
                <a:srgbClr val="181C62"/>
              </a:buClr>
              <a:buSzPts val="3000"/>
              <a:buFont typeface="Open Sans Light"/>
              <a:buNone/>
            </a:pPr>
            <a:r>
              <a:rPr lang="en-GB" sz="2400">
                <a:solidFill>
                  <a:srgbClr val="181C62"/>
                </a:solidFill>
                <a:latin typeface="Open Sans Light"/>
                <a:ea typeface="Open Sans Light"/>
                <a:cs typeface="Open Sans Light"/>
                <a:sym typeface="Open Sans Light"/>
              </a:rPr>
              <a:t>(SCTP) Advanced Professional Certificate</a:t>
            </a:r>
            <a:endParaRPr sz="2400"/>
          </a:p>
        </p:txBody>
      </p:sp>
      <p:sp>
        <p:nvSpPr>
          <p:cNvPr id="58" name="Google Shape;58;p12"/>
          <p:cNvSpPr txBox="1"/>
          <p:nvPr/>
        </p:nvSpPr>
        <p:spPr>
          <a:xfrm>
            <a:off x="562516" y="2571750"/>
            <a:ext cx="3892200" cy="604500"/>
          </a:xfrm>
          <a:prstGeom prst="rect">
            <a:avLst/>
          </a:prstGeom>
          <a:noFill/>
          <a:ln>
            <a:noFill/>
          </a:ln>
        </p:spPr>
        <p:txBody>
          <a:bodyPr anchorCtr="0" anchor="ctr" bIns="34275" lIns="67500" spcFirstLastPara="1" rIns="68575" wrap="square" tIns="34275">
            <a:normAutofit/>
          </a:bodyPr>
          <a:lstStyle/>
          <a:p>
            <a:pPr indent="0" lvl="0" marL="0" marR="0" rtl="0" algn="l">
              <a:lnSpc>
                <a:spcPct val="100000"/>
              </a:lnSpc>
              <a:spcBef>
                <a:spcPts val="0"/>
              </a:spcBef>
              <a:spcAft>
                <a:spcPts val="0"/>
              </a:spcAft>
              <a:buClr>
                <a:srgbClr val="181C62"/>
              </a:buClr>
              <a:buSzPts val="1500"/>
              <a:buFont typeface="Open Sans"/>
              <a:buNone/>
            </a:pPr>
            <a:r>
              <a:t/>
            </a:r>
            <a:endParaRPr sz="1100"/>
          </a:p>
          <a:p>
            <a:pPr indent="0" lvl="0" marL="0" marR="0" rtl="0" algn="l">
              <a:lnSpc>
                <a:spcPct val="100000"/>
              </a:lnSpc>
              <a:spcBef>
                <a:spcPts val="0"/>
              </a:spcBef>
              <a:spcAft>
                <a:spcPts val="0"/>
              </a:spcAft>
              <a:buClr>
                <a:srgbClr val="181C62"/>
              </a:buClr>
              <a:buSzPts val="1500"/>
              <a:buFont typeface="Open Sans"/>
              <a:buNone/>
            </a:pPr>
            <a:r>
              <a:rPr b="1" lang="en-GB" sz="2400">
                <a:solidFill>
                  <a:srgbClr val="181C62"/>
                </a:solidFill>
                <a:latin typeface="Open Sans"/>
                <a:ea typeface="Open Sans"/>
                <a:cs typeface="Open Sans"/>
                <a:sym typeface="Open Sans"/>
              </a:rPr>
              <a:t>Data Science and AI</a:t>
            </a:r>
            <a:endParaRPr b="1" sz="2400">
              <a:solidFill>
                <a:srgbClr val="181C62"/>
              </a:solidFill>
              <a:latin typeface="Open Sans"/>
              <a:ea typeface="Open Sans"/>
              <a:cs typeface="Open Sans"/>
              <a:sym typeface="Open Sans"/>
            </a:endParaRPr>
          </a:p>
        </p:txBody>
      </p:sp>
      <p:pic>
        <p:nvPicPr>
          <p:cNvPr id="59" name="Google Shape;59;p12"/>
          <p:cNvPicPr preferRelativeResize="0"/>
          <p:nvPr/>
        </p:nvPicPr>
        <p:blipFill rotWithShape="1">
          <a:blip r:embed="rId4">
            <a:alphaModFix/>
          </a:blip>
          <a:srcRect b="33662" l="0" r="0" t="30759"/>
          <a:stretch/>
        </p:blipFill>
        <p:spPr>
          <a:xfrm>
            <a:off x="342900" y="0"/>
            <a:ext cx="4263655" cy="996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13"/>
          <p:cNvSpPr txBox="1"/>
          <p:nvPr>
            <p:ph type="ctrTitle"/>
          </p:nvPr>
        </p:nvSpPr>
        <p:spPr>
          <a:xfrm>
            <a:off x="599700" y="2161500"/>
            <a:ext cx="7944600" cy="1102500"/>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chemeClr val="lt1"/>
              </a:buClr>
              <a:buSzPts val="3000"/>
              <a:buFont typeface="Arial"/>
              <a:buNone/>
            </a:pPr>
            <a:r>
              <a:rPr b="1" lang="en-GB" sz="3000">
                <a:solidFill>
                  <a:schemeClr val="lt1"/>
                </a:solidFill>
              </a:rPr>
              <a:t>3.</a:t>
            </a:r>
            <a:r>
              <a:rPr b="1" lang="en-GB">
                <a:solidFill>
                  <a:schemeClr val="lt1"/>
                </a:solidFill>
              </a:rPr>
              <a:t>4</a:t>
            </a:r>
            <a:r>
              <a:rPr b="1" lang="en-GB" sz="3000">
                <a:solidFill>
                  <a:schemeClr val="lt1"/>
                </a:solidFill>
              </a:rPr>
              <a:t> </a:t>
            </a:r>
            <a:r>
              <a:rPr b="1" lang="en-GB">
                <a:solidFill>
                  <a:schemeClr val="lt1"/>
                </a:solidFill>
              </a:rPr>
              <a:t>Supervised Learning - Advanced</a:t>
            </a:r>
            <a:endParaRPr b="1">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76550" y="147875"/>
            <a:ext cx="8310000" cy="759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GB" sz="3600"/>
              <a:t>Module Overview</a:t>
            </a:r>
            <a:endParaRPr sz="3600"/>
          </a:p>
        </p:txBody>
      </p:sp>
      <p:sp>
        <p:nvSpPr>
          <p:cNvPr id="71" name="Google Shape;71;p14"/>
          <p:cNvSpPr txBox="1"/>
          <p:nvPr>
            <p:ph idx="1" type="body"/>
          </p:nvPr>
        </p:nvSpPr>
        <p:spPr>
          <a:xfrm>
            <a:off x="376850" y="987925"/>
            <a:ext cx="8310000" cy="36075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lang="en-GB" sz="1400"/>
              <a:t>3.1 Introduction to Machine Learning</a:t>
            </a:r>
            <a:endParaRPr sz="1400"/>
          </a:p>
          <a:p>
            <a:pPr indent="0" lvl="0" marL="0" rtl="0" algn="l">
              <a:spcBef>
                <a:spcPts val="1000"/>
              </a:spcBef>
              <a:spcAft>
                <a:spcPts val="0"/>
              </a:spcAft>
              <a:buClr>
                <a:schemeClr val="dk1"/>
              </a:buClr>
              <a:buSzPts val="1100"/>
              <a:buFont typeface="Arial"/>
              <a:buNone/>
            </a:pPr>
            <a:r>
              <a:rPr lang="en-GB" sz="1400"/>
              <a:t>3.2 Probability and Statistics for Machine Learning</a:t>
            </a:r>
            <a:endParaRPr sz="1400"/>
          </a:p>
          <a:p>
            <a:pPr indent="0" lvl="0" marL="0" rtl="0" algn="l">
              <a:spcBef>
                <a:spcPts val="1000"/>
              </a:spcBef>
              <a:spcAft>
                <a:spcPts val="0"/>
              </a:spcAft>
              <a:buClr>
                <a:schemeClr val="dk1"/>
              </a:buClr>
              <a:buSzPts val="1100"/>
              <a:buFont typeface="Arial"/>
              <a:buNone/>
            </a:pPr>
            <a:r>
              <a:rPr lang="en-GB" sz="1400"/>
              <a:t>3.3 Supervised Learning</a:t>
            </a:r>
            <a:endParaRPr sz="1400"/>
          </a:p>
          <a:p>
            <a:pPr indent="0" lvl="0" marL="0" rtl="0" algn="l">
              <a:spcBef>
                <a:spcPts val="1000"/>
              </a:spcBef>
              <a:spcAft>
                <a:spcPts val="0"/>
              </a:spcAft>
              <a:buClr>
                <a:schemeClr val="dk1"/>
              </a:buClr>
              <a:buSzPts val="1100"/>
              <a:buFont typeface="Arial"/>
              <a:buNone/>
            </a:pPr>
            <a:r>
              <a:rPr lang="en-GB" sz="1400">
                <a:highlight>
                  <a:srgbClr val="FFFF00"/>
                </a:highlight>
              </a:rPr>
              <a:t>3.4 Supervised Learning - Advanced</a:t>
            </a:r>
            <a:endParaRPr sz="1400">
              <a:highlight>
                <a:srgbClr val="FFFF00"/>
              </a:highlight>
            </a:endParaRPr>
          </a:p>
          <a:p>
            <a:pPr indent="0" lvl="0" marL="0" rtl="0" algn="l">
              <a:spcBef>
                <a:spcPts val="1000"/>
              </a:spcBef>
              <a:spcAft>
                <a:spcPts val="0"/>
              </a:spcAft>
              <a:buClr>
                <a:schemeClr val="dk1"/>
              </a:buClr>
              <a:buSzPts val="1100"/>
              <a:buFont typeface="Arial"/>
              <a:buNone/>
            </a:pPr>
            <a:r>
              <a:rPr lang="en-GB" sz="1400"/>
              <a:t>3.5 Unsupervised Learning</a:t>
            </a:r>
            <a:endParaRPr sz="1400"/>
          </a:p>
          <a:p>
            <a:pPr indent="0" lvl="0" marL="0" rtl="0" algn="l">
              <a:spcBef>
                <a:spcPts val="1000"/>
              </a:spcBef>
              <a:spcAft>
                <a:spcPts val="0"/>
              </a:spcAft>
              <a:buClr>
                <a:schemeClr val="dk1"/>
              </a:buClr>
              <a:buSzPts val="1100"/>
              <a:buFont typeface="Arial"/>
              <a:buNone/>
            </a:pPr>
            <a:r>
              <a:rPr lang="en-GB" sz="1400"/>
              <a:t>3.6 Time Series Data &amp; Forecasting</a:t>
            </a:r>
            <a:endParaRPr sz="1400"/>
          </a:p>
          <a:p>
            <a:pPr indent="0" lvl="0" marL="0" rtl="0" algn="l">
              <a:spcBef>
                <a:spcPts val="1000"/>
              </a:spcBef>
              <a:spcAft>
                <a:spcPts val="0"/>
              </a:spcAft>
              <a:buClr>
                <a:schemeClr val="dk1"/>
              </a:buClr>
              <a:buSzPts val="1100"/>
              <a:buFont typeface="Arial"/>
              <a:buNone/>
            </a:pPr>
            <a:r>
              <a:rPr lang="en-GB" sz="1400"/>
              <a:t>3.7 Neural Network &amp; Deep Learning</a:t>
            </a:r>
            <a:endParaRPr sz="1400"/>
          </a:p>
          <a:p>
            <a:pPr indent="0" lvl="0" marL="0" rtl="0" algn="l">
              <a:spcBef>
                <a:spcPts val="1000"/>
              </a:spcBef>
              <a:spcAft>
                <a:spcPts val="0"/>
              </a:spcAft>
              <a:buClr>
                <a:schemeClr val="dk1"/>
              </a:buClr>
              <a:buSzPts val="1100"/>
              <a:buFont typeface="Arial"/>
              <a:buNone/>
            </a:pPr>
            <a:r>
              <a:rPr lang="en-GB" sz="1400"/>
              <a:t>3.8 Computer Vision (CV)</a:t>
            </a:r>
            <a:endParaRPr sz="1400"/>
          </a:p>
          <a:p>
            <a:pPr indent="0" lvl="0" marL="0" rtl="0" algn="l">
              <a:spcBef>
                <a:spcPts val="1000"/>
              </a:spcBef>
              <a:spcAft>
                <a:spcPts val="0"/>
              </a:spcAft>
              <a:buClr>
                <a:schemeClr val="dk1"/>
              </a:buClr>
              <a:buSzPts val="1100"/>
              <a:buFont typeface="Arial"/>
              <a:buNone/>
            </a:pPr>
            <a:r>
              <a:rPr lang="en-GB" sz="1400"/>
              <a:t>3.9 Natural Language Processing (NLP)</a:t>
            </a:r>
            <a:endParaRPr sz="1400"/>
          </a:p>
          <a:p>
            <a:pPr indent="0" lvl="0" marL="0" rtl="0" algn="l">
              <a:spcBef>
                <a:spcPts val="1000"/>
              </a:spcBef>
              <a:spcAft>
                <a:spcPts val="1000"/>
              </a:spcAft>
              <a:buClr>
                <a:schemeClr val="dk1"/>
              </a:buClr>
              <a:buSzPts val="1100"/>
              <a:buFont typeface="Arial"/>
              <a:buNone/>
            </a:pPr>
            <a:r>
              <a:rPr lang="en-GB" sz="1400"/>
              <a:t>3.10 Transformers, Attention &amp; GenAI</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5" title="2790713E-5780-4DA0-B07C-10CD6DD2071B_1_102_o.jpeg"/>
          <p:cNvPicPr preferRelativeResize="0"/>
          <p:nvPr/>
        </p:nvPicPr>
        <p:blipFill>
          <a:blip r:embed="rId3">
            <a:alphaModFix/>
          </a:blip>
          <a:stretch>
            <a:fillRect/>
          </a:stretch>
        </p:blipFill>
        <p:spPr>
          <a:xfrm>
            <a:off x="889913" y="0"/>
            <a:ext cx="7364175" cy="490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81" name="Shape 81"/>
        <p:cNvGrpSpPr/>
        <p:nvPr/>
      </p:nvGrpSpPr>
      <p:grpSpPr>
        <a:xfrm>
          <a:off x="0" y="0"/>
          <a:ext cx="0" cy="0"/>
          <a:chOff x="0" y="0"/>
          <a:chExt cx="0" cy="0"/>
        </a:xfrm>
      </p:grpSpPr>
      <p:sp>
        <p:nvSpPr>
          <p:cNvPr id="82" name="Google Shape;82;p16"/>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83" name="Google Shape;83;p16"/>
          <p:cNvSpPr/>
          <p:nvPr/>
        </p:nvSpPr>
        <p:spPr>
          <a:xfrm>
            <a:off x="411480" y="994410"/>
            <a:ext cx="82296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1300"/>
              <a:buFont typeface="Open Sans"/>
              <a:buNone/>
            </a:pPr>
            <a:r>
              <a:rPr b="1" lang="en-GB" sz="1300">
                <a:solidFill>
                  <a:schemeClr val="lt1"/>
                </a:solidFill>
                <a:latin typeface="Open Sans"/>
                <a:ea typeface="Open Sans"/>
                <a:cs typeface="Open Sans"/>
                <a:sym typeface="Open Sans"/>
              </a:rPr>
              <a:t>Module 3  ·  Machine Learning &amp; GenAI</a:t>
            </a:r>
            <a:endParaRPr sz="1100">
              <a:solidFill>
                <a:schemeClr val="lt1"/>
              </a:solidFill>
            </a:endParaRPr>
          </a:p>
        </p:txBody>
      </p:sp>
      <p:sp>
        <p:nvSpPr>
          <p:cNvPr id="84" name="Google Shape;84;p16"/>
          <p:cNvSpPr/>
          <p:nvPr/>
        </p:nvSpPr>
        <p:spPr>
          <a:xfrm>
            <a:off x="411480" y="1440180"/>
            <a:ext cx="8229600" cy="68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8102E"/>
              </a:buClr>
              <a:buSzPts val="5400"/>
              <a:buFont typeface="Open Sans"/>
              <a:buNone/>
            </a:pPr>
            <a:r>
              <a:rPr lang="en-GB" sz="5400">
                <a:solidFill>
                  <a:schemeClr val="accent6"/>
                </a:solidFill>
                <a:latin typeface="Open Sans"/>
                <a:ea typeface="Open Sans"/>
                <a:cs typeface="Open Sans"/>
                <a:sym typeface="Open Sans"/>
              </a:rPr>
              <a:t>L03</a:t>
            </a:r>
            <a:endParaRPr sz="1100">
              <a:solidFill>
                <a:schemeClr val="accent6"/>
              </a:solidFill>
            </a:endParaRPr>
          </a:p>
        </p:txBody>
      </p:sp>
      <p:sp>
        <p:nvSpPr>
          <p:cNvPr id="85" name="Google Shape;85;p16"/>
          <p:cNvSpPr/>
          <p:nvPr/>
        </p:nvSpPr>
        <p:spPr>
          <a:xfrm>
            <a:off x="411480" y="2125980"/>
            <a:ext cx="8229600" cy="2057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FFFFFF"/>
              </a:buClr>
              <a:buSzPts val="5300"/>
              <a:buFont typeface="Open Sans"/>
              <a:buNone/>
            </a:pPr>
            <a:r>
              <a:rPr lang="en-GB" sz="5300">
                <a:solidFill>
                  <a:srgbClr val="FFFFFF"/>
                </a:solidFill>
                <a:latin typeface="Open Sans"/>
                <a:ea typeface="Open Sans"/>
                <a:cs typeface="Open Sans"/>
                <a:sym typeface="Open Sans"/>
              </a:rPr>
              <a:t>Trees &amp;</a:t>
            </a:r>
            <a:br>
              <a:rPr lang="en-GB" sz="5300">
                <a:solidFill>
                  <a:srgbClr val="FFFFFF"/>
                </a:solidFill>
                <a:latin typeface="Open Sans"/>
                <a:ea typeface="Open Sans"/>
                <a:cs typeface="Open Sans"/>
                <a:sym typeface="Open Sans"/>
              </a:rPr>
            </a:br>
            <a:r>
              <a:rPr b="1" lang="en-GB" sz="5300">
                <a:solidFill>
                  <a:schemeClr val="accent6"/>
                </a:solidFill>
                <a:latin typeface="Open Sans"/>
                <a:ea typeface="Open Sans"/>
                <a:cs typeface="Open Sans"/>
                <a:sym typeface="Open Sans"/>
              </a:rPr>
              <a:t>Ensembles</a:t>
            </a:r>
            <a:endParaRPr sz="1100">
              <a:solidFill>
                <a:schemeClr val="accent6"/>
              </a:solidFill>
            </a:endParaRPr>
          </a:p>
        </p:txBody>
      </p:sp>
      <p:sp>
        <p:nvSpPr>
          <p:cNvPr id="86" name="Google Shape;86;p16"/>
          <p:cNvSpPr/>
          <p:nvPr/>
        </p:nvSpPr>
        <p:spPr>
          <a:xfrm>
            <a:off x="411480" y="4114800"/>
            <a:ext cx="8229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Open Sans"/>
              <a:buNone/>
            </a:pPr>
            <a:r>
              <a:rPr i="1" lang="en-GB" sz="1700">
                <a:solidFill>
                  <a:srgbClr val="FFFFFF"/>
                </a:solidFill>
                <a:latin typeface="Open Sans"/>
                <a:ea typeface="Open Sans"/>
                <a:cs typeface="Open Sans"/>
                <a:sym typeface="Open Sans"/>
              </a:rPr>
              <a:t>Sarah’s week of improving the L03 model</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93" name="Google Shape;93;p17"/>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94" name="Google Shape;94;p17"/>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Where We Left Off</a:t>
            </a:r>
            <a:endParaRPr sz="1100"/>
          </a:p>
        </p:txBody>
      </p:sp>
      <p:sp>
        <p:nvSpPr>
          <p:cNvPr id="95" name="Google Shape;95;p17"/>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Marcus</a:t>
            </a:r>
            <a:r>
              <a:rPr lang="en-GB" sz="1300">
                <a:solidFill>
                  <a:srgbClr val="333D4D"/>
                </a:solidFill>
                <a:latin typeface="Open Sans"/>
                <a:ea typeface="Open Sans"/>
                <a:cs typeface="Open Sans"/>
                <a:sym typeface="Open Sans"/>
              </a:rPr>
              <a:t>, end of L03:</a:t>
            </a:r>
            <a:endParaRPr sz="1100"/>
          </a:p>
        </p:txBody>
      </p:sp>
      <p:sp>
        <p:nvSpPr>
          <p:cNvPr id="96" name="Google Shape;96;p17"/>
          <p:cNvSpPr txBox="1"/>
          <p:nvPr/>
        </p:nvSpPr>
        <p:spPr>
          <a:xfrm>
            <a:off x="411475" y="2425603"/>
            <a:ext cx="2212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What Sarah has now</a:t>
            </a:r>
            <a:endParaRPr sz="1300">
              <a:latin typeface="Open Sans"/>
              <a:ea typeface="Open Sans"/>
              <a:cs typeface="Open Sans"/>
              <a:sym typeface="Open Sans"/>
            </a:endParaRPr>
          </a:p>
        </p:txBody>
      </p:sp>
      <p:sp>
        <p:nvSpPr>
          <p:cNvPr id="97" name="Google Shape;97;p17"/>
          <p:cNvSpPr txBox="1"/>
          <p:nvPr/>
        </p:nvSpPr>
        <p:spPr>
          <a:xfrm>
            <a:off x="411475" y="1235538"/>
            <a:ext cx="6636300" cy="1023900"/>
          </a:xfrm>
          <a:prstGeom prst="rect">
            <a:avLst/>
          </a:prstGeom>
          <a:solidFill>
            <a:srgbClr val="1B2A4A"/>
          </a:solidFill>
          <a:ln cap="flat" cmpd="sng" w="9525">
            <a:solidFill>
              <a:srgbClr val="4F81BD"/>
            </a:solidFill>
            <a:prstDash val="solid"/>
            <a:round/>
            <a:headEnd len="sm" w="sm" type="none"/>
            <a:tailEnd len="sm" w="sm" type="none"/>
          </a:ln>
        </p:spPr>
        <p:txBody>
          <a:bodyPr anchorCtr="0" anchor="t" bIns="180000" lIns="180000" spcFirstLastPara="1" rIns="180000" wrap="square" tIns="180000">
            <a:spAutoFit/>
          </a:bodyPr>
          <a:lstStyle/>
          <a:p>
            <a:pPr indent="0" lvl="0" marL="0" marR="0" rtl="0" algn="l">
              <a:lnSpc>
                <a:spcPct val="115000"/>
              </a:lnSpc>
              <a:spcBef>
                <a:spcPts val="0"/>
              </a:spcBef>
              <a:spcAft>
                <a:spcPts val="0"/>
              </a:spcAft>
              <a:buNone/>
            </a:pPr>
            <a:r>
              <a:rPr i="1" lang="en-GB" sz="1300">
                <a:solidFill>
                  <a:schemeClr val="lt1"/>
                </a:solidFill>
                <a:latin typeface="Open Sans"/>
                <a:ea typeface="Open Sans"/>
                <a:cs typeface="Open Sans"/>
                <a:sym typeface="Open Sans"/>
              </a:rPr>
              <a:t>"</a:t>
            </a:r>
            <a:r>
              <a:rPr i="1" lang="en-GB" sz="1300">
                <a:solidFill>
                  <a:schemeClr val="lt1"/>
                </a:solidFill>
                <a:latin typeface="Open Sans"/>
                <a:ea typeface="Open Sans"/>
                <a:cs typeface="Open Sans"/>
                <a:sym typeface="Open Sans"/>
              </a:rPr>
              <a:t>"This is the first model we own. But we're hitting capacity at 200 calls.</a:t>
            </a:r>
            <a:endParaRPr i="1" sz="13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None/>
            </a:pPr>
            <a:r>
              <a:rPr i="1" lang="en-GB" sz="1300">
                <a:solidFill>
                  <a:schemeClr val="lt1"/>
                </a:solidFill>
                <a:latin typeface="Open Sans"/>
                <a:ea typeface="Open Sans"/>
                <a:cs typeface="Open Sans"/>
                <a:sym typeface="Open Sans"/>
              </a:rPr>
              <a:t>Can you squeeze MORE recall without more false positives? Try those tree-based models."</a:t>
            </a:r>
            <a:endParaRPr i="1" sz="1300">
              <a:solidFill>
                <a:schemeClr val="lt1"/>
              </a:solidFill>
              <a:latin typeface="Open Sans"/>
              <a:ea typeface="Open Sans"/>
              <a:cs typeface="Open Sans"/>
              <a:sym typeface="Open Sans"/>
            </a:endParaRPr>
          </a:p>
        </p:txBody>
      </p:sp>
      <p:graphicFrame>
        <p:nvGraphicFramePr>
          <p:cNvPr id="98" name="Google Shape;98;p17"/>
          <p:cNvGraphicFramePr/>
          <p:nvPr/>
        </p:nvGraphicFramePr>
        <p:xfrm>
          <a:off x="411475" y="2800182"/>
          <a:ext cx="3000000" cy="3000000"/>
        </p:xfrm>
        <a:graphic>
          <a:graphicData uri="http://schemas.openxmlformats.org/drawingml/2006/table">
            <a:tbl>
              <a:tblPr>
                <a:noFill/>
                <a:tableStyleId>{7A394FD9-8A9B-4839-99E5-51DF96C5A99C}</a:tableStyleId>
              </a:tblPr>
              <a:tblGrid>
                <a:gridCol w="2212900"/>
                <a:gridCol w="5830975"/>
              </a:tblGrid>
              <a:tr h="381000">
                <a:tc>
                  <a:txBody>
                    <a:bodyPr/>
                    <a:lstStyle/>
                    <a:p>
                      <a:pPr indent="0" lvl="0" marL="0" rtl="0" algn="l">
                        <a:spcBef>
                          <a:spcPts val="0"/>
                        </a:spcBef>
                        <a:spcAft>
                          <a:spcPts val="0"/>
                        </a:spcAft>
                        <a:buClr>
                          <a:schemeClr val="dk1"/>
                        </a:buClr>
                        <a:buFont typeface="Arial"/>
                        <a:buNone/>
                      </a:pPr>
                      <a:r>
                        <a:rPr b="1" lang="en-GB" sz="1300">
                          <a:solidFill>
                            <a:srgbClr val="333D4D"/>
                          </a:solidFill>
                          <a:latin typeface="Open Sans"/>
                          <a:ea typeface="Open Sans"/>
                          <a:cs typeface="Open Sans"/>
                          <a:sym typeface="Open Sans"/>
                        </a:rPr>
                        <a:t>📂Same churn dataset</a:t>
                      </a:r>
                      <a:endParaRPr b="1"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10,000 NorthStar customers — story continuity from L03</a:t>
                      </a:r>
                      <a:endParaRPr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Font typeface="Arial"/>
                        <a:buNone/>
                      </a:pPr>
                      <a:r>
                        <a:rPr lang="en-GB" sz="1300">
                          <a:solidFill>
                            <a:srgbClr val="333D4D"/>
                          </a:solidFill>
                          <a:latin typeface="Open Sans"/>
                          <a:ea typeface="Open Sans"/>
                          <a:cs typeface="Open Sans"/>
                          <a:sym typeface="Open Sans"/>
                        </a:rPr>
                        <a:t>🎯</a:t>
                      </a:r>
                      <a:r>
                        <a:rPr b="1" lang="en-GB" sz="1300">
                          <a:solidFill>
                            <a:srgbClr val="1B2A4A"/>
                          </a:solidFill>
                          <a:latin typeface="Open Sans"/>
                          <a:ea typeface="Open Sans"/>
                          <a:cs typeface="Open Sans"/>
                          <a:sym typeface="Open Sans"/>
                        </a:rPr>
                        <a:t>Bar to beat</a:t>
                      </a:r>
                      <a:endParaRPr b="1" sz="1300">
                        <a:solidFill>
                          <a:srgbClr val="1B2A4A"/>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L03 logistic regression at threshold 0.25 → F1 ≈ 0.286</a:t>
                      </a:r>
                      <a:endParaRPr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Font typeface="Arial"/>
                        <a:buNone/>
                      </a:pPr>
                      <a:r>
                        <a:rPr b="1" lang="en-GB" sz="1300">
                          <a:solidFill>
                            <a:srgbClr val="333D4D"/>
                          </a:solidFill>
                          <a:latin typeface="Open Sans"/>
                          <a:ea typeface="Open Sans"/>
                          <a:cs typeface="Open Sans"/>
                          <a:sym typeface="Open Sans"/>
                        </a:rPr>
                        <a:t>🛠 New tools</a:t>
                      </a:r>
                      <a:endParaRPr b="1"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Decision trees, bagging (Random Forest), boosting (Gradient Boosting), GridSearchCV</a:t>
                      </a:r>
                      <a:endParaRPr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GB" sz="1300">
                          <a:solidFill>
                            <a:srgbClr val="333D4D"/>
                          </a:solidFill>
                          <a:latin typeface="Open Sans"/>
                          <a:ea typeface="Open Sans"/>
                          <a:cs typeface="Open Sans"/>
                          <a:sym typeface="Open Sans"/>
                        </a:rPr>
                        <a:t>🏁 Decision point</a:t>
                      </a:r>
                      <a:endParaRPr b="1"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Friday: pick ONE model to recommend for production</a:t>
                      </a:r>
                      <a:endParaRPr sz="1300">
                        <a:solidFill>
                          <a:srgbClr val="333D4D"/>
                        </a:solidFill>
                        <a:latin typeface="Open Sans"/>
                        <a:ea typeface="Open Sans"/>
                        <a:cs typeface="Open Sans"/>
                        <a:sym typeface="Open Sans"/>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76550" y="147875"/>
            <a:ext cx="8310000" cy="759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en-GB">
                <a:latin typeface="Open Sans"/>
                <a:ea typeface="Open Sans"/>
                <a:cs typeface="Open Sans"/>
                <a:sym typeface="Open Sans"/>
              </a:rPr>
              <a:t>What did you learn in Pre-Class?</a:t>
            </a:r>
            <a:endParaRPr b="1">
              <a:latin typeface="Open Sans"/>
              <a:ea typeface="Open Sans"/>
              <a:cs typeface="Open Sans"/>
              <a:sym typeface="Open Sans"/>
            </a:endParaRPr>
          </a:p>
        </p:txBody>
      </p:sp>
      <p:sp>
        <p:nvSpPr>
          <p:cNvPr id="104" name="Google Shape;104;p18"/>
          <p:cNvSpPr txBox="1"/>
          <p:nvPr>
            <p:ph idx="1" type="body"/>
          </p:nvPr>
        </p:nvSpPr>
        <p:spPr>
          <a:xfrm>
            <a:off x="376850" y="987925"/>
            <a:ext cx="8310000" cy="3607500"/>
          </a:xfrm>
          <a:prstGeom prst="rect">
            <a:avLst/>
          </a:prstGeom>
        </p:spPr>
        <p:txBody>
          <a:bodyPr anchorCtr="0" anchor="t" bIns="34275" lIns="68575" spcFirstLastPara="1" rIns="68575" wrap="square" tIns="34275">
            <a:normAutofit/>
          </a:bodyPr>
          <a:lstStyle/>
          <a:p>
            <a:pPr indent="0" lvl="0" marL="0" rtl="0" algn="l">
              <a:spcBef>
                <a:spcPts val="0"/>
              </a:spcBef>
              <a:spcAft>
                <a:spcPts val="10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76550" y="147875"/>
            <a:ext cx="8310000" cy="759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GB"/>
              <a:t>Decision</a:t>
            </a:r>
            <a:r>
              <a:rPr lang="en-GB"/>
              <a:t> Tree</a:t>
            </a:r>
            <a:endParaRPr/>
          </a:p>
        </p:txBody>
      </p:sp>
      <p:pic>
        <p:nvPicPr>
          <p:cNvPr id="110" name="Google Shape;110;p19"/>
          <p:cNvPicPr preferRelativeResize="0"/>
          <p:nvPr/>
        </p:nvPicPr>
        <p:blipFill>
          <a:blip r:embed="rId3">
            <a:alphaModFix/>
          </a:blip>
          <a:stretch>
            <a:fillRect/>
          </a:stretch>
        </p:blipFill>
        <p:spPr>
          <a:xfrm>
            <a:off x="1093125" y="956675"/>
            <a:ext cx="6246646" cy="3930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117" name="Google Shape;117;p20"/>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18" name="Google Shape;118;p20"/>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One Tree Isn’t Enough</a:t>
            </a:r>
            <a:endParaRPr sz="1100"/>
          </a:p>
        </p:txBody>
      </p:sp>
      <p:sp>
        <p:nvSpPr>
          <p:cNvPr id="119" name="Google Shape;119;p20"/>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Either overfits or underfits — never both right</a:t>
            </a:r>
            <a:endParaRPr sz="1100"/>
          </a:p>
        </p:txBody>
      </p:sp>
      <p:sp>
        <p:nvSpPr>
          <p:cNvPr id="120" name="Google Shape;120;p20"/>
          <p:cNvSpPr/>
          <p:nvPr/>
        </p:nvSpPr>
        <p:spPr>
          <a:xfrm>
            <a:off x="411475" y="980700"/>
            <a:ext cx="3771900" cy="33891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1" name="Google Shape;121;p20"/>
          <p:cNvSpPr txBox="1"/>
          <p:nvPr/>
        </p:nvSpPr>
        <p:spPr>
          <a:xfrm>
            <a:off x="582925" y="1083575"/>
            <a:ext cx="3600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C8102E"/>
                </a:solidFill>
                <a:latin typeface="Open Sans"/>
                <a:ea typeface="Open Sans"/>
                <a:cs typeface="Open Sans"/>
                <a:sym typeface="Open Sans"/>
              </a:rPr>
              <a:t>Deep tree (full depth)</a:t>
            </a:r>
            <a:endParaRPr sz="1100"/>
          </a:p>
        </p:txBody>
      </p:sp>
      <p:sp>
        <p:nvSpPr>
          <p:cNvPr id="122" name="Google Shape;122;p20"/>
          <p:cNvSpPr txBox="1"/>
          <p:nvPr/>
        </p:nvSpPr>
        <p:spPr>
          <a:xfrm>
            <a:off x="582925" y="1529325"/>
            <a:ext cx="3600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333D4D"/>
                </a:solidFill>
                <a:latin typeface="Consolas"/>
                <a:ea typeface="Consolas"/>
                <a:cs typeface="Consolas"/>
                <a:sym typeface="Consolas"/>
              </a:rPr>
              <a:t>Training accuracy: 1.000</a:t>
            </a:r>
            <a:endParaRPr sz="1100"/>
          </a:p>
        </p:txBody>
      </p:sp>
      <p:sp>
        <p:nvSpPr>
          <p:cNvPr id="123" name="Google Shape;123;p20"/>
          <p:cNvSpPr txBox="1"/>
          <p:nvPr/>
        </p:nvSpPr>
        <p:spPr>
          <a:xfrm>
            <a:off x="582925" y="1872225"/>
            <a:ext cx="3600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333D4D"/>
                </a:solidFill>
                <a:latin typeface="Consolas"/>
                <a:ea typeface="Consolas"/>
                <a:cs typeface="Consolas"/>
                <a:sym typeface="Consolas"/>
              </a:rPr>
              <a:t>Test accuracy:     0.799</a:t>
            </a:r>
            <a:endParaRPr sz="1100"/>
          </a:p>
        </p:txBody>
      </p:sp>
      <p:sp>
        <p:nvSpPr>
          <p:cNvPr id="124" name="Google Shape;124;p20"/>
          <p:cNvSpPr txBox="1"/>
          <p:nvPr/>
        </p:nvSpPr>
        <p:spPr>
          <a:xfrm>
            <a:off x="582925" y="2215125"/>
            <a:ext cx="3600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333D4D"/>
                </a:solidFill>
                <a:latin typeface="Consolas"/>
                <a:ea typeface="Consolas"/>
                <a:cs typeface="Consolas"/>
                <a:sym typeface="Consolas"/>
              </a:rPr>
              <a:t>Test F1:           0.183</a:t>
            </a:r>
            <a:endParaRPr sz="1100"/>
          </a:p>
        </p:txBody>
      </p:sp>
      <p:sp>
        <p:nvSpPr>
          <p:cNvPr id="125" name="Google Shape;125;p20"/>
          <p:cNvSpPr txBox="1"/>
          <p:nvPr/>
        </p:nvSpPr>
        <p:spPr>
          <a:xfrm>
            <a:off x="582925" y="2838789"/>
            <a:ext cx="3512700" cy="1332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Font typeface="Arial"/>
              <a:buNone/>
            </a:pPr>
            <a:r>
              <a:rPr b="1" lang="en-GB" sz="1300">
                <a:solidFill>
                  <a:schemeClr val="dk2"/>
                </a:solidFill>
                <a:latin typeface="Open Sans"/>
                <a:ea typeface="Open Sans"/>
                <a:cs typeface="Open Sans"/>
                <a:sym typeface="Open Sans"/>
              </a:rPr>
              <a:t>20-point train/test gap.</a:t>
            </a:r>
            <a:endParaRPr sz="1100">
              <a:solidFill>
                <a:schemeClr val="dk2"/>
              </a:solidFill>
            </a:endParaRPr>
          </a:p>
          <a:p>
            <a:pPr indent="0" lvl="0" marL="0" marR="0" rtl="0" algn="l">
              <a:lnSpc>
                <a:spcPct val="115000"/>
              </a:lnSpc>
              <a:spcBef>
                <a:spcPts val="0"/>
              </a:spcBef>
              <a:spcAft>
                <a:spcPts val="0"/>
              </a:spcAft>
              <a:buNone/>
            </a:pPr>
            <a:r>
              <a:t/>
            </a:r>
            <a:endParaRPr sz="1200">
              <a:solidFill>
                <a:srgbClr val="333D4D"/>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The tree memorised every training example.</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Low bias, HIGH variance.</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1300">
              <a:solidFill>
                <a:srgbClr val="333D4D"/>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Diagnosis: </a:t>
            </a:r>
            <a:r>
              <a:rPr b="1" lang="en-GB" sz="1300">
                <a:solidFill>
                  <a:srgbClr val="6AA84F"/>
                </a:solidFill>
                <a:latin typeface="Open Sans"/>
                <a:ea typeface="Open Sans"/>
                <a:cs typeface="Open Sans"/>
                <a:sym typeface="Open Sans"/>
              </a:rPr>
              <a:t>OVERFITS</a:t>
            </a:r>
            <a:r>
              <a:rPr b="1" lang="en-GB" sz="1300">
                <a:solidFill>
                  <a:srgbClr val="333D4D"/>
                </a:solidFill>
                <a:latin typeface="Open Sans"/>
                <a:ea typeface="Open Sans"/>
                <a:cs typeface="Open Sans"/>
                <a:sym typeface="Open Sans"/>
              </a:rPr>
              <a:t>.</a:t>
            </a:r>
            <a:endParaRPr b="1" sz="1300">
              <a:latin typeface="Open Sans"/>
              <a:ea typeface="Open Sans"/>
              <a:cs typeface="Open Sans"/>
              <a:sym typeface="Open Sans"/>
            </a:endParaRPr>
          </a:p>
        </p:txBody>
      </p:sp>
      <p:sp>
        <p:nvSpPr>
          <p:cNvPr id="126" name="Google Shape;126;p20"/>
          <p:cNvSpPr/>
          <p:nvPr/>
        </p:nvSpPr>
        <p:spPr>
          <a:xfrm>
            <a:off x="4300100" y="980700"/>
            <a:ext cx="4443900" cy="33822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27" name="Google Shape;127;p20"/>
          <p:cNvSpPr txBox="1"/>
          <p:nvPr/>
        </p:nvSpPr>
        <p:spPr>
          <a:xfrm>
            <a:off x="4449975" y="1083575"/>
            <a:ext cx="3903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rgbClr val="C8102E"/>
                </a:solidFill>
                <a:latin typeface="Open Sans"/>
                <a:ea typeface="Open Sans"/>
                <a:cs typeface="Open Sans"/>
                <a:sym typeface="Open Sans"/>
              </a:rPr>
              <a:t>Shallow tree (depth 3)</a:t>
            </a:r>
            <a:endParaRPr sz="1100"/>
          </a:p>
        </p:txBody>
      </p:sp>
      <p:sp>
        <p:nvSpPr>
          <p:cNvPr id="128" name="Google Shape;128;p20"/>
          <p:cNvSpPr txBox="1"/>
          <p:nvPr/>
        </p:nvSpPr>
        <p:spPr>
          <a:xfrm>
            <a:off x="4449975" y="1529343"/>
            <a:ext cx="39030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333D4D"/>
                </a:solidFill>
                <a:latin typeface="Consolas"/>
                <a:ea typeface="Consolas"/>
                <a:cs typeface="Consolas"/>
                <a:sym typeface="Consolas"/>
              </a:rPr>
              <a:t>Training accuracy: 0.880</a:t>
            </a:r>
            <a:endParaRPr sz="1100"/>
          </a:p>
        </p:txBody>
      </p:sp>
      <p:sp>
        <p:nvSpPr>
          <p:cNvPr id="129" name="Google Shape;129;p20"/>
          <p:cNvSpPr txBox="1"/>
          <p:nvPr/>
        </p:nvSpPr>
        <p:spPr>
          <a:xfrm>
            <a:off x="4449975" y="1872232"/>
            <a:ext cx="384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333D4D"/>
                </a:solidFill>
                <a:latin typeface="Consolas"/>
                <a:ea typeface="Consolas"/>
                <a:cs typeface="Consolas"/>
                <a:sym typeface="Consolas"/>
              </a:rPr>
              <a:t>Test accuracy:     0.880</a:t>
            </a:r>
            <a:endParaRPr sz="1100"/>
          </a:p>
        </p:txBody>
      </p:sp>
      <p:sp>
        <p:nvSpPr>
          <p:cNvPr id="130" name="Google Shape;130;p20"/>
          <p:cNvSpPr txBox="1"/>
          <p:nvPr/>
        </p:nvSpPr>
        <p:spPr>
          <a:xfrm>
            <a:off x="4449975" y="2215139"/>
            <a:ext cx="39030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333D4D"/>
                </a:solidFill>
                <a:latin typeface="Consolas"/>
                <a:ea typeface="Consolas"/>
                <a:cs typeface="Consolas"/>
                <a:sym typeface="Consolas"/>
              </a:rPr>
              <a:t>Test F1:           0.000</a:t>
            </a:r>
            <a:endParaRPr sz="1100"/>
          </a:p>
        </p:txBody>
      </p:sp>
      <p:sp>
        <p:nvSpPr>
          <p:cNvPr id="131" name="Google Shape;131;p20"/>
          <p:cNvSpPr txBox="1"/>
          <p:nvPr/>
        </p:nvSpPr>
        <p:spPr>
          <a:xfrm>
            <a:off x="4800600" y="2626614"/>
            <a:ext cx="37719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100"/>
          </a:p>
        </p:txBody>
      </p:sp>
      <p:sp>
        <p:nvSpPr>
          <p:cNvPr id="132" name="Google Shape;132;p20"/>
          <p:cNvSpPr txBox="1"/>
          <p:nvPr/>
        </p:nvSpPr>
        <p:spPr>
          <a:xfrm>
            <a:off x="4449975" y="2838789"/>
            <a:ext cx="4191000" cy="1332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Font typeface="Arial"/>
              <a:buNone/>
            </a:pPr>
            <a:r>
              <a:rPr b="1" lang="en-GB" sz="1300">
                <a:solidFill>
                  <a:schemeClr val="dk2"/>
                </a:solidFill>
                <a:latin typeface="Open Sans"/>
                <a:ea typeface="Open Sans"/>
                <a:cs typeface="Open Sans"/>
                <a:sym typeface="Open Sans"/>
              </a:rPr>
              <a:t>No train/test gap...</a:t>
            </a:r>
            <a:endParaRPr sz="1300">
              <a:solidFill>
                <a:schemeClr val="dk2"/>
              </a:solidFill>
              <a:latin typeface="Open Sans"/>
              <a:ea typeface="Open Sans"/>
              <a:cs typeface="Open Sans"/>
              <a:sym typeface="Open Sans"/>
            </a:endParaRPr>
          </a:p>
          <a:p>
            <a:pPr indent="0" lvl="0" marL="0" marR="0" rtl="0" algn="l">
              <a:lnSpc>
                <a:spcPct val="115000"/>
              </a:lnSpc>
              <a:spcBef>
                <a:spcPts val="0"/>
              </a:spcBef>
              <a:spcAft>
                <a:spcPts val="0"/>
              </a:spcAft>
              <a:buNone/>
            </a:pPr>
            <a:r>
              <a:t/>
            </a:r>
            <a:endParaRPr sz="1200">
              <a:solidFill>
                <a:srgbClr val="333D4D"/>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...because the tree just predicts 'stayed' for everyone.</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HIGH bias, low variance.</a:t>
            </a:r>
            <a:endParaRPr sz="13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1300">
              <a:solidFill>
                <a:srgbClr val="333D4D"/>
              </a:solidFill>
              <a:latin typeface="Open Sans"/>
              <a:ea typeface="Open Sans"/>
              <a:cs typeface="Open Sans"/>
              <a:sym typeface="Open Sans"/>
            </a:endParaRPr>
          </a:p>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Diagnosis: </a:t>
            </a:r>
            <a:r>
              <a:rPr b="1" lang="en-GB" sz="1300">
                <a:solidFill>
                  <a:srgbClr val="CC0000"/>
                </a:solidFill>
                <a:latin typeface="Open Sans"/>
                <a:ea typeface="Open Sans"/>
                <a:cs typeface="Open Sans"/>
                <a:sym typeface="Open Sans"/>
              </a:rPr>
              <a:t>UNDERFITS</a:t>
            </a:r>
            <a:r>
              <a:rPr lang="en-GB" sz="1300">
                <a:solidFill>
                  <a:srgbClr val="333D4D"/>
                </a:solidFill>
                <a:latin typeface="Open Sans"/>
                <a:ea typeface="Open Sans"/>
                <a:cs typeface="Open Sans"/>
                <a:sym typeface="Open Sans"/>
              </a:rPr>
              <a:t>.</a:t>
            </a:r>
            <a:endParaRPr sz="1300">
              <a:latin typeface="Open Sans"/>
              <a:ea typeface="Open Sans"/>
              <a:cs typeface="Open Sans"/>
              <a:sym typeface="Open Sans"/>
            </a:endParaRPr>
          </a:p>
        </p:txBody>
      </p:sp>
      <p:sp>
        <p:nvSpPr>
          <p:cNvPr id="133" name="Google Shape;133;p20"/>
          <p:cNvSpPr/>
          <p:nvPr/>
        </p:nvSpPr>
        <p:spPr>
          <a:xfrm>
            <a:off x="411475" y="4464550"/>
            <a:ext cx="8332500" cy="323700"/>
          </a:xfrm>
          <a:prstGeom prst="rect">
            <a:avLst/>
          </a:prstGeom>
          <a:solidFill>
            <a:srgbClr val="2C5697"/>
          </a:solid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Font typeface="Arial"/>
              <a:buNone/>
            </a:pPr>
            <a:r>
              <a:rPr lang="en-GB" sz="1200">
                <a:solidFill>
                  <a:schemeClr val="lt1"/>
                </a:solidFill>
                <a:latin typeface="Open Sans"/>
                <a:ea typeface="Open Sans"/>
                <a:cs typeface="Open Sans"/>
                <a:sym typeface="Open Sans"/>
              </a:rPr>
              <a:t>The fix: train MANY trees on different subsets, then AVERAGE → </a:t>
            </a:r>
            <a:r>
              <a:rPr b="1" lang="en-GB" sz="1200">
                <a:solidFill>
                  <a:schemeClr val="lt1"/>
                </a:solidFill>
                <a:latin typeface="Open Sans"/>
                <a:ea typeface="Open Sans"/>
                <a:cs typeface="Open Sans"/>
                <a:sym typeface="Open Sans"/>
              </a:rPr>
              <a:t>Random Forest</a:t>
            </a:r>
            <a:r>
              <a:rPr lang="en-GB" sz="1200">
                <a:solidFill>
                  <a:schemeClr val="lt1"/>
                </a:solidFill>
                <a:latin typeface="Open Sans"/>
                <a:ea typeface="Open Sans"/>
                <a:cs typeface="Open Sans"/>
                <a:sym typeface="Open Sans"/>
              </a:rPr>
              <a:t>.</a:t>
            </a:r>
            <a:endParaRPr sz="1400">
              <a:solidFill>
                <a:schemeClr val="lt1"/>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Random Forests make a simple, yet effective, machine learning method. They are made out of decision trees, but don't have the same problems with accuracy. In this video, I walk you through the steps to build, use and evaluate a random forest.&#10;&#10;NOTE: Random Forests are made from Decision Trees, so if you don't know about those, here's the Quest: https://youtu.be/_L39rN6gz7Y&#10;&#10;ALSO NOTE: This StatQuest is based on Leo Breiman's (one of the creators of Random Forests) website: https://www.stat.berkeley.edu/~breiman/RandomForests/cc_home.htm&#10;&#10;For a complete index of all the StatQuest videos, check out:&#10;https://statquest.org/video-index/&#10;&#10;If you'd like to support StatQuest, please consider...&#10;&#10;Patreon: https://www.patreon.com/statquest&#10;...or...&#10;YouTube Membership: https://www.youtube.com/channel/UCtYLUTtgS3k1Fg4y5tAhLbw/join&#10;&#10;...buying one of my books, a study guide, a t-shirt or hoodie, or a song from the StatQuest store...&#10;https://statquest.org/statquest-store/&#10;&#10;...or just donating to StatQuest!&#10;https://www.paypal.me/statquest&#10;&#10;Lastly, if you want to keep up with me as I research and create new StatQuests, follow me on twitter:&#10;https://twitter.com/joshuastarmer&#10;&#10;0:00 Awesome song and introduction&#10;0:31 Motivation for using Random Forests&#10;1:17 Step 1, create a bootstrapped dataset&#10;2:23 Step 2, create a decision tree a random subset of variables at each step&#10;4:00 Step 3, repeat steps 1 and 2 a bunch of times&#10;4:40 Classifying a new sample with a Random Forest&#10;5:41 Definition of Bagging&#10;6:03 Evaluating a Random Forest&#10;8:34 Optimizing the Random Forest&#10;&#10;Corrections:&#10;3:18 I should have said the same feature (or variable) can be selected multiple times in a tree. Every time we select a subset of features to choose from, we choose from the full list of features, even if we have already used some of those features. Thus, a single feature can appear multiple times in a tree. &#10;9:28 I say &quot;square&quot; when I meant to say &quot;square root&quot;.&#10;&#10;#statquest #randomforest #ML" id="138" name="Google Shape;138;p21" title="StatQuest: Random Forests Part 1 - Building, Using and Evaluating">
            <a:hlinkClick r:id="rId3"/>
          </p:cNvPr>
          <p:cNvPicPr preferRelativeResize="0"/>
          <p:nvPr/>
        </p:nvPicPr>
        <p:blipFill>
          <a:blip r:embed="rId4">
            <a:alphaModFix/>
          </a:blip>
          <a:stretch>
            <a:fillRect/>
          </a:stretch>
        </p:blipFill>
        <p:spPr>
          <a:xfrm>
            <a:off x="188613" y="0"/>
            <a:ext cx="8766775" cy="49313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145" name="Google Shape;145;p22"/>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46" name="Google Shape;146;p22"/>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Bagging — The Random Forest Idea</a:t>
            </a:r>
            <a:endParaRPr sz="1100">
              <a:latin typeface="Open Sans"/>
              <a:ea typeface="Open Sans"/>
              <a:cs typeface="Open Sans"/>
              <a:sym typeface="Open Sans"/>
            </a:endParaRPr>
          </a:p>
        </p:txBody>
      </p:sp>
      <p:sp>
        <p:nvSpPr>
          <p:cNvPr id="147" name="Google Shape;147;p22"/>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Train many trees on slightly different data, then average</a:t>
            </a:r>
            <a:endParaRPr sz="1100">
              <a:latin typeface="Open Sans"/>
              <a:ea typeface="Open Sans"/>
              <a:cs typeface="Open Sans"/>
              <a:sym typeface="Open Sans"/>
            </a:endParaRPr>
          </a:p>
        </p:txBody>
      </p:sp>
      <p:sp>
        <p:nvSpPr>
          <p:cNvPr id="148" name="Google Shape;148;p22"/>
          <p:cNvSpPr txBox="1"/>
          <p:nvPr/>
        </p:nvSpPr>
        <p:spPr>
          <a:xfrm>
            <a:off x="411480" y="1029428"/>
            <a:ext cx="829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Two sources of variation between trees:</a:t>
            </a:r>
            <a:endParaRPr sz="1300">
              <a:latin typeface="Open Sans"/>
              <a:ea typeface="Open Sans"/>
              <a:cs typeface="Open Sans"/>
              <a:sym typeface="Open Sans"/>
            </a:endParaRPr>
          </a:p>
        </p:txBody>
      </p:sp>
      <p:sp>
        <p:nvSpPr>
          <p:cNvPr id="149" name="Google Shape;149;p22"/>
          <p:cNvSpPr/>
          <p:nvPr/>
        </p:nvSpPr>
        <p:spPr>
          <a:xfrm>
            <a:off x="411475" y="1379425"/>
            <a:ext cx="4036200" cy="16410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50" name="Google Shape;150;p22"/>
          <p:cNvSpPr txBox="1"/>
          <p:nvPr/>
        </p:nvSpPr>
        <p:spPr>
          <a:xfrm>
            <a:off x="577217" y="1461899"/>
            <a:ext cx="3771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GB" sz="1300">
                <a:solidFill>
                  <a:srgbClr val="1B2A4A"/>
                </a:solidFill>
                <a:latin typeface="Open Sans"/>
                <a:ea typeface="Open Sans"/>
                <a:cs typeface="Open Sans"/>
                <a:sym typeface="Open Sans"/>
              </a:rPr>
              <a:t>1. Bootstrap sampling (rows)</a:t>
            </a:r>
            <a:endParaRPr sz="1300">
              <a:latin typeface="Open Sans"/>
              <a:ea typeface="Open Sans"/>
              <a:cs typeface="Open Sans"/>
              <a:sym typeface="Open Sans"/>
            </a:endParaRPr>
          </a:p>
        </p:txBody>
      </p:sp>
      <p:sp>
        <p:nvSpPr>
          <p:cNvPr id="151" name="Google Shape;151;p22"/>
          <p:cNvSpPr txBox="1"/>
          <p:nvPr/>
        </p:nvSpPr>
        <p:spPr>
          <a:xfrm>
            <a:off x="577217" y="1762724"/>
            <a:ext cx="3771900" cy="1146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Each tree trains on a random sample of N rows drawn WITH replacement.</a:t>
            </a:r>
            <a:endParaRPr sz="1300">
              <a:solidFill>
                <a:srgbClr val="333D4D"/>
              </a:solidFill>
              <a:latin typeface="Open Sans"/>
              <a:ea typeface="Open Sans"/>
              <a:cs typeface="Open Sans"/>
              <a:sym typeface="Open Sans"/>
            </a:endParaRPr>
          </a:p>
          <a:p>
            <a:pPr indent="0" lvl="0" marL="0" marR="0" rtl="0" algn="l">
              <a:lnSpc>
                <a:spcPct val="115000"/>
              </a:lnSpc>
              <a:spcBef>
                <a:spcPts val="1000"/>
              </a:spcBef>
              <a:spcAft>
                <a:spcPts val="0"/>
              </a:spcAft>
              <a:buNone/>
            </a:pPr>
            <a:r>
              <a:rPr b="1" lang="en-GB" sz="1300">
                <a:solidFill>
                  <a:srgbClr val="333D4D"/>
                </a:solidFill>
                <a:latin typeface="Open Sans"/>
                <a:ea typeface="Open Sans"/>
                <a:cs typeface="Open Sans"/>
                <a:sym typeface="Open Sans"/>
              </a:rPr>
              <a:t>~63%</a:t>
            </a:r>
            <a:r>
              <a:rPr lang="en-GB" sz="1300">
                <a:solidFill>
                  <a:srgbClr val="333D4D"/>
                </a:solidFill>
                <a:latin typeface="Open Sans"/>
                <a:ea typeface="Open Sans"/>
                <a:cs typeface="Open Sans"/>
                <a:sym typeface="Open Sans"/>
              </a:rPr>
              <a:t> of rows appear at least once.</a:t>
            </a:r>
            <a:endParaRPr sz="1300">
              <a:latin typeface="Open Sans"/>
              <a:ea typeface="Open Sans"/>
              <a:cs typeface="Open Sans"/>
              <a:sym typeface="Open Sans"/>
            </a:endParaRPr>
          </a:p>
          <a:p>
            <a:pPr indent="0" lvl="0" marL="0" marR="0" rtl="0" algn="l">
              <a:lnSpc>
                <a:spcPct val="115000"/>
              </a:lnSpc>
              <a:spcBef>
                <a:spcPts val="1000"/>
              </a:spcBef>
              <a:spcAft>
                <a:spcPts val="1000"/>
              </a:spcAft>
              <a:buNone/>
            </a:pPr>
            <a:r>
              <a:rPr b="1" lang="en-GB" sz="1300">
                <a:solidFill>
                  <a:srgbClr val="333D4D"/>
                </a:solidFill>
                <a:latin typeface="Open Sans"/>
                <a:ea typeface="Open Sans"/>
                <a:cs typeface="Open Sans"/>
                <a:sym typeface="Open Sans"/>
              </a:rPr>
              <a:t>~37%</a:t>
            </a:r>
            <a:r>
              <a:rPr lang="en-GB" sz="1300">
                <a:solidFill>
                  <a:srgbClr val="333D4D"/>
                </a:solidFill>
                <a:latin typeface="Open Sans"/>
                <a:ea typeface="Open Sans"/>
                <a:cs typeface="Open Sans"/>
                <a:sym typeface="Open Sans"/>
              </a:rPr>
              <a:t> are ‘out of bag’ — free validation set.</a:t>
            </a:r>
            <a:endParaRPr sz="1300">
              <a:latin typeface="Open Sans"/>
              <a:ea typeface="Open Sans"/>
              <a:cs typeface="Open Sans"/>
              <a:sym typeface="Open Sans"/>
            </a:endParaRPr>
          </a:p>
        </p:txBody>
      </p:sp>
      <p:sp>
        <p:nvSpPr>
          <p:cNvPr id="152" name="Google Shape;152;p22"/>
          <p:cNvSpPr/>
          <p:nvPr/>
        </p:nvSpPr>
        <p:spPr>
          <a:xfrm>
            <a:off x="4626250" y="1379425"/>
            <a:ext cx="4036200" cy="16410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53" name="Google Shape;153;p22"/>
          <p:cNvSpPr txBox="1"/>
          <p:nvPr/>
        </p:nvSpPr>
        <p:spPr>
          <a:xfrm>
            <a:off x="4794888" y="1461899"/>
            <a:ext cx="3771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GB" sz="1300">
                <a:solidFill>
                  <a:srgbClr val="1B2A4A"/>
                </a:solidFill>
                <a:latin typeface="Open Sans"/>
                <a:ea typeface="Open Sans"/>
                <a:cs typeface="Open Sans"/>
                <a:sym typeface="Open Sans"/>
              </a:rPr>
              <a:t>2. Feature subsampling (cols)</a:t>
            </a:r>
            <a:endParaRPr sz="1300">
              <a:latin typeface="Open Sans"/>
              <a:ea typeface="Open Sans"/>
              <a:cs typeface="Open Sans"/>
              <a:sym typeface="Open Sans"/>
            </a:endParaRPr>
          </a:p>
        </p:txBody>
      </p:sp>
      <p:sp>
        <p:nvSpPr>
          <p:cNvPr id="154" name="Google Shape;154;p22"/>
          <p:cNvSpPr txBox="1"/>
          <p:nvPr/>
        </p:nvSpPr>
        <p:spPr>
          <a:xfrm>
            <a:off x="4794900" y="1762725"/>
            <a:ext cx="3771900" cy="1146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GB" sz="1300">
                <a:solidFill>
                  <a:srgbClr val="333D4D"/>
                </a:solidFill>
                <a:latin typeface="Open Sans"/>
                <a:ea typeface="Open Sans"/>
                <a:cs typeface="Open Sans"/>
                <a:sym typeface="Open Sans"/>
              </a:rPr>
              <a:t>At each split, the tree considers ONLY a random subset of features.</a:t>
            </a:r>
            <a:endParaRPr sz="1300">
              <a:latin typeface="Open Sans"/>
              <a:ea typeface="Open Sans"/>
              <a:cs typeface="Open Sans"/>
              <a:sym typeface="Open Sans"/>
            </a:endParaRPr>
          </a:p>
          <a:p>
            <a:pPr indent="0" lvl="0" marL="0" marR="0" rtl="0" algn="l">
              <a:lnSpc>
                <a:spcPct val="115000"/>
              </a:lnSpc>
              <a:spcBef>
                <a:spcPts val="1000"/>
              </a:spcBef>
              <a:spcAft>
                <a:spcPts val="0"/>
              </a:spcAft>
              <a:buNone/>
            </a:pPr>
            <a:r>
              <a:rPr lang="en-GB" sz="1300">
                <a:solidFill>
                  <a:srgbClr val="333D4D"/>
                </a:solidFill>
                <a:latin typeface="Open Sans"/>
                <a:ea typeface="Open Sans"/>
                <a:cs typeface="Open Sans"/>
                <a:sym typeface="Open Sans"/>
              </a:rPr>
              <a:t>Default for classification: sqrt(n_features).</a:t>
            </a:r>
            <a:endParaRPr sz="1300">
              <a:latin typeface="Open Sans"/>
              <a:ea typeface="Open Sans"/>
              <a:cs typeface="Open Sans"/>
              <a:sym typeface="Open Sans"/>
            </a:endParaRPr>
          </a:p>
          <a:p>
            <a:pPr indent="0" lvl="0" marL="0" marR="0" rtl="0" algn="l">
              <a:lnSpc>
                <a:spcPct val="115000"/>
              </a:lnSpc>
              <a:spcBef>
                <a:spcPts val="1000"/>
              </a:spcBef>
              <a:spcAft>
                <a:spcPts val="1000"/>
              </a:spcAft>
              <a:buNone/>
            </a:pPr>
            <a:r>
              <a:rPr lang="en-GB" sz="1300">
                <a:solidFill>
                  <a:srgbClr val="333D4D"/>
                </a:solidFill>
                <a:latin typeface="Open Sans"/>
                <a:ea typeface="Open Sans"/>
                <a:cs typeface="Open Sans"/>
                <a:sym typeface="Open Sans"/>
              </a:rPr>
              <a:t>This is the trick that </a:t>
            </a:r>
            <a:r>
              <a:rPr b="1" lang="en-GB" sz="1300">
                <a:solidFill>
                  <a:srgbClr val="333D4D"/>
                </a:solidFill>
                <a:latin typeface="Open Sans"/>
                <a:ea typeface="Open Sans"/>
                <a:cs typeface="Open Sans"/>
                <a:sym typeface="Open Sans"/>
              </a:rPr>
              <a:t>DECORRELATES </a:t>
            </a:r>
            <a:r>
              <a:rPr lang="en-GB" sz="1300">
                <a:solidFill>
                  <a:srgbClr val="333D4D"/>
                </a:solidFill>
                <a:latin typeface="Open Sans"/>
                <a:ea typeface="Open Sans"/>
                <a:cs typeface="Open Sans"/>
                <a:sym typeface="Open Sans"/>
              </a:rPr>
              <a:t>the trees.</a:t>
            </a:r>
            <a:endParaRPr sz="1300">
              <a:latin typeface="Open Sans"/>
              <a:ea typeface="Open Sans"/>
              <a:cs typeface="Open Sans"/>
              <a:sym typeface="Open Sans"/>
            </a:endParaRPr>
          </a:p>
        </p:txBody>
      </p:sp>
      <p:sp>
        <p:nvSpPr>
          <p:cNvPr id="155" name="Google Shape;155;p22"/>
          <p:cNvSpPr/>
          <p:nvPr/>
        </p:nvSpPr>
        <p:spPr>
          <a:xfrm>
            <a:off x="411475" y="3170988"/>
            <a:ext cx="8284500" cy="1677000"/>
          </a:xfrm>
          <a:prstGeom prst="rect">
            <a:avLst/>
          </a:prstGeom>
          <a:solidFill>
            <a:srgbClr val="1B2A4A"/>
          </a:solidFill>
          <a:ln>
            <a:noFill/>
          </a:ln>
        </p:spPr>
        <p:txBody>
          <a:bodyPr anchorCtr="0" anchor="ctr" bIns="108000" lIns="324000" spcFirstLastPara="1" rIns="324000" wrap="square" tIns="108000">
            <a:noAutofit/>
          </a:bodyPr>
          <a:lstStyle/>
          <a:p>
            <a:pPr indent="0" lvl="0" marL="0" rtl="0" algn="l">
              <a:lnSpc>
                <a:spcPct val="115000"/>
              </a:lnSpc>
              <a:spcBef>
                <a:spcPts val="0"/>
              </a:spcBef>
              <a:spcAft>
                <a:spcPts val="0"/>
              </a:spcAft>
              <a:buClr>
                <a:schemeClr val="dk1"/>
              </a:buClr>
              <a:buFont typeface="Arial"/>
              <a:buNone/>
            </a:pPr>
            <a:r>
              <a:rPr b="1" lang="en-GB" sz="1300">
                <a:solidFill>
                  <a:srgbClr val="F4F5F7"/>
                </a:solidFill>
                <a:latin typeface="Open Sans"/>
                <a:ea typeface="Open Sans"/>
                <a:cs typeface="Open Sans"/>
                <a:sym typeface="Open Sans"/>
              </a:rPr>
              <a:t>Why both matter</a:t>
            </a:r>
            <a:endParaRPr b="1" sz="1300">
              <a:solidFill>
                <a:schemeClr val="dk1"/>
              </a:solidFill>
              <a:latin typeface="Open Sans"/>
              <a:ea typeface="Open Sans"/>
              <a:cs typeface="Open Sans"/>
              <a:sym typeface="Open Sans"/>
            </a:endParaRPr>
          </a:p>
          <a:p>
            <a:pPr indent="0" lvl="0" marL="0" rtl="0" algn="l">
              <a:lnSpc>
                <a:spcPct val="115000"/>
              </a:lnSpc>
              <a:spcBef>
                <a:spcPts val="1000"/>
              </a:spcBef>
              <a:spcAft>
                <a:spcPts val="0"/>
              </a:spcAft>
              <a:buClr>
                <a:schemeClr val="dk1"/>
              </a:buClr>
              <a:buFont typeface="Arial"/>
              <a:buNone/>
            </a:pPr>
            <a:r>
              <a:rPr lang="en-GB" sz="1200">
                <a:solidFill>
                  <a:schemeClr val="lt1"/>
                </a:solidFill>
                <a:latin typeface="Open Sans"/>
                <a:ea typeface="Open Sans"/>
                <a:cs typeface="Open Sans"/>
                <a:sym typeface="Open Sans"/>
              </a:rPr>
              <a:t>Without feature subsampling, every tree picks the SAME top split and the ensemble is N copies of nearly the same model.</a:t>
            </a:r>
            <a:endParaRPr sz="1200">
              <a:solidFill>
                <a:schemeClr val="dk1"/>
              </a:solidFill>
              <a:latin typeface="Open Sans"/>
              <a:ea typeface="Open Sans"/>
              <a:cs typeface="Open Sans"/>
              <a:sym typeface="Open Sans"/>
            </a:endParaRPr>
          </a:p>
          <a:p>
            <a:pPr indent="0" lvl="0" marL="0" rtl="0" algn="l">
              <a:lnSpc>
                <a:spcPct val="115000"/>
              </a:lnSpc>
              <a:spcBef>
                <a:spcPts val="1000"/>
              </a:spcBef>
              <a:spcAft>
                <a:spcPts val="0"/>
              </a:spcAft>
              <a:buClr>
                <a:schemeClr val="dk1"/>
              </a:buClr>
              <a:buFont typeface="Arial"/>
              <a:buNone/>
            </a:pPr>
            <a:r>
              <a:rPr lang="en-GB" sz="1200">
                <a:solidFill>
                  <a:schemeClr val="lt1"/>
                </a:solidFill>
                <a:latin typeface="Open Sans"/>
                <a:ea typeface="Open Sans"/>
                <a:cs typeface="Open Sans"/>
                <a:sym typeface="Open Sans"/>
              </a:rPr>
              <a:t>Feature subsampling forces trees to specialise — that's what makes averaging genuinely reduce variance.</a:t>
            </a:r>
            <a:endParaRPr sz="1200">
              <a:solidFill>
                <a:schemeClr val="lt1"/>
              </a:solidFill>
              <a:latin typeface="Open Sans"/>
              <a:ea typeface="Open Sans"/>
              <a:cs typeface="Open Sans"/>
              <a:sym typeface="Open Sans"/>
            </a:endParaRPr>
          </a:p>
          <a:p>
            <a:pPr indent="0" lvl="0" marL="0" rtl="0" algn="l">
              <a:lnSpc>
                <a:spcPct val="115000"/>
              </a:lnSpc>
              <a:spcBef>
                <a:spcPts val="1000"/>
              </a:spcBef>
              <a:spcAft>
                <a:spcPts val="1000"/>
              </a:spcAft>
              <a:buNone/>
            </a:pPr>
            <a:r>
              <a:rPr lang="en-GB" sz="1200">
                <a:solidFill>
                  <a:schemeClr val="lt1"/>
                </a:solidFill>
                <a:latin typeface="Open Sans"/>
                <a:ea typeface="Open Sans"/>
                <a:cs typeface="Open Sans"/>
                <a:sym typeface="Open Sans"/>
              </a:rPr>
              <a:t>Proof: turn feature subsampling OFF (max_features=None) and watch RF performance get WORSE.</a:t>
            </a:r>
            <a:endParaRPr>
              <a:solidFill>
                <a:schemeClr val="lt1"/>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162" name="Google Shape;162;p23"/>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63" name="Google Shape;163;p23"/>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Boosting — Sequential Error Correction</a:t>
            </a:r>
            <a:endParaRPr sz="1100"/>
          </a:p>
        </p:txBody>
      </p:sp>
      <p:sp>
        <p:nvSpPr>
          <p:cNvPr id="164" name="Google Shape;164;p23"/>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Each new tree fits what the ensemble got wrong</a:t>
            </a:r>
            <a:endParaRPr sz="1100"/>
          </a:p>
        </p:txBody>
      </p:sp>
      <p:grpSp>
        <p:nvGrpSpPr>
          <p:cNvPr id="165" name="Google Shape;165;p23"/>
          <p:cNvGrpSpPr/>
          <p:nvPr/>
        </p:nvGrpSpPr>
        <p:grpSpPr>
          <a:xfrm>
            <a:off x="411475" y="1113026"/>
            <a:ext cx="8298300" cy="2052000"/>
            <a:chOff x="411475" y="1113026"/>
            <a:chExt cx="8298300" cy="2052000"/>
          </a:xfrm>
        </p:grpSpPr>
        <p:sp>
          <p:nvSpPr>
            <p:cNvPr id="166" name="Google Shape;166;p23"/>
            <p:cNvSpPr/>
            <p:nvPr/>
          </p:nvSpPr>
          <p:spPr>
            <a:xfrm>
              <a:off x="411475" y="1113026"/>
              <a:ext cx="8298300" cy="20520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67" name="Google Shape;167;p23"/>
            <p:cNvSpPr txBox="1"/>
            <p:nvPr/>
          </p:nvSpPr>
          <p:spPr>
            <a:xfrm>
              <a:off x="617220" y="1283188"/>
              <a:ext cx="7886700" cy="163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400">
                  <a:solidFill>
                    <a:srgbClr val="F4F5F7"/>
                  </a:solidFill>
                  <a:latin typeface="Consolas"/>
                  <a:ea typeface="Consolas"/>
                  <a:cs typeface="Consolas"/>
                  <a:sym typeface="Consolas"/>
                </a:rPr>
                <a:t>The algorithm:</a:t>
              </a:r>
              <a:endParaRPr sz="1100"/>
            </a:p>
            <a:p>
              <a:pPr indent="0" lvl="0" marL="0" marR="0" rtl="0" algn="l">
                <a:spcBef>
                  <a:spcPts val="0"/>
                </a:spcBef>
                <a:spcAft>
                  <a:spcPts val="0"/>
                </a:spcAft>
                <a:buNone/>
              </a:pPr>
              <a:r>
                <a:t/>
              </a:r>
              <a:endParaRPr b="0" sz="1400">
                <a:solidFill>
                  <a:srgbClr val="F4F5F7"/>
                </a:solidFill>
                <a:latin typeface="Consolas"/>
                <a:ea typeface="Consolas"/>
                <a:cs typeface="Consolas"/>
                <a:sym typeface="Consolas"/>
              </a:endParaRPr>
            </a:p>
            <a:p>
              <a:pPr indent="0" lvl="0" marL="0" marR="0" rtl="0" algn="l">
                <a:lnSpc>
                  <a:spcPct val="115000"/>
                </a:lnSpc>
                <a:spcBef>
                  <a:spcPts val="0"/>
                </a:spcBef>
                <a:spcAft>
                  <a:spcPts val="0"/>
                </a:spcAft>
                <a:buNone/>
              </a:pPr>
              <a:r>
                <a:rPr b="0" lang="en-GB" sz="1400">
                  <a:solidFill>
                    <a:srgbClr val="F4F5F7"/>
                  </a:solidFill>
                  <a:latin typeface="Consolas"/>
                  <a:ea typeface="Consolas"/>
                  <a:cs typeface="Consolas"/>
                  <a:sym typeface="Consolas"/>
                </a:rPr>
                <a:t>  1. Initial prediction = mean of y_train</a:t>
              </a:r>
              <a:endParaRPr sz="1100"/>
            </a:p>
            <a:p>
              <a:pPr indent="0" lvl="0" marL="0" marR="0" rtl="0" algn="l">
                <a:lnSpc>
                  <a:spcPct val="115000"/>
                </a:lnSpc>
                <a:spcBef>
                  <a:spcPts val="0"/>
                </a:spcBef>
                <a:spcAft>
                  <a:spcPts val="0"/>
                </a:spcAft>
                <a:buNone/>
              </a:pPr>
              <a:r>
                <a:rPr b="0" lang="en-GB" sz="1400">
                  <a:solidFill>
                    <a:srgbClr val="F4F5F7"/>
                  </a:solidFill>
                  <a:latin typeface="Consolas"/>
                  <a:ea typeface="Consolas"/>
                  <a:cs typeface="Consolas"/>
                  <a:sym typeface="Consolas"/>
                </a:rPr>
                <a:t>  2. Compute residuals = y - prediction</a:t>
              </a:r>
              <a:endParaRPr sz="1100"/>
            </a:p>
            <a:p>
              <a:pPr indent="0" lvl="0" marL="0" marR="0" rtl="0" algn="l">
                <a:lnSpc>
                  <a:spcPct val="115000"/>
                </a:lnSpc>
                <a:spcBef>
                  <a:spcPts val="0"/>
                </a:spcBef>
                <a:spcAft>
                  <a:spcPts val="0"/>
                </a:spcAft>
                <a:buNone/>
              </a:pPr>
              <a:r>
                <a:rPr b="0" lang="en-GB" sz="1400">
                  <a:solidFill>
                    <a:srgbClr val="F4F5F7"/>
                  </a:solidFill>
                  <a:latin typeface="Consolas"/>
                  <a:ea typeface="Consolas"/>
                  <a:cs typeface="Consolas"/>
                  <a:sym typeface="Consolas"/>
                </a:rPr>
                <a:t>  3. Train a SMALL tree to predict the residuals</a:t>
              </a:r>
              <a:endParaRPr sz="1100"/>
            </a:p>
            <a:p>
              <a:pPr indent="0" lvl="0" marL="0" marR="0" rtl="0" algn="l">
                <a:lnSpc>
                  <a:spcPct val="115000"/>
                </a:lnSpc>
                <a:spcBef>
                  <a:spcPts val="0"/>
                </a:spcBef>
                <a:spcAft>
                  <a:spcPts val="0"/>
                </a:spcAft>
                <a:buNone/>
              </a:pPr>
              <a:r>
                <a:rPr b="0" lang="en-GB" sz="1400">
                  <a:solidFill>
                    <a:srgbClr val="F4F5F7"/>
                  </a:solidFill>
                  <a:latin typeface="Consolas"/>
                  <a:ea typeface="Consolas"/>
                  <a:cs typeface="Consolas"/>
                  <a:sym typeface="Consolas"/>
                </a:rPr>
                <a:t>  4. Update: prediction = previous + learning_rate × tree_prediction</a:t>
              </a:r>
              <a:endParaRPr sz="1100"/>
            </a:p>
            <a:p>
              <a:pPr indent="0" lvl="0" marL="0" marR="0" rtl="0" algn="l">
                <a:lnSpc>
                  <a:spcPct val="115000"/>
                </a:lnSpc>
                <a:spcBef>
                  <a:spcPts val="0"/>
                </a:spcBef>
                <a:spcAft>
                  <a:spcPts val="0"/>
                </a:spcAft>
                <a:buNone/>
              </a:pPr>
              <a:r>
                <a:rPr b="0" lang="en-GB" sz="1400">
                  <a:solidFill>
                    <a:srgbClr val="F4F5F7"/>
                  </a:solidFill>
                  <a:latin typeface="Consolas"/>
                  <a:ea typeface="Consolas"/>
                  <a:cs typeface="Consolas"/>
                  <a:sym typeface="Consolas"/>
                </a:rPr>
                <a:t>  5. Repeat from step 2  (200-500 rounds typical)</a:t>
              </a:r>
              <a:endParaRPr sz="1100"/>
            </a:p>
          </p:txBody>
        </p:sp>
      </p:grpSp>
      <p:sp>
        <p:nvSpPr>
          <p:cNvPr id="168" name="Google Shape;168;p23"/>
          <p:cNvSpPr/>
          <p:nvPr/>
        </p:nvSpPr>
        <p:spPr>
          <a:xfrm>
            <a:off x="411475" y="3466574"/>
            <a:ext cx="8298300" cy="903000"/>
          </a:xfrm>
          <a:prstGeom prst="rect">
            <a:avLst/>
          </a:prstGeom>
          <a:solidFill>
            <a:srgbClr val="2C5697"/>
          </a:solidFill>
          <a:ln>
            <a:noFill/>
          </a:ln>
        </p:spPr>
        <p:txBody>
          <a:bodyPr anchorCtr="0" anchor="ctr" bIns="108000" lIns="108000" spcFirstLastPara="1" rIns="108000" wrap="square" tIns="108000">
            <a:noAutofit/>
          </a:bodyPr>
          <a:lstStyle/>
          <a:p>
            <a:pPr indent="0" lvl="0" marL="0" rtl="0" algn="l">
              <a:spcBef>
                <a:spcPts val="0"/>
              </a:spcBef>
              <a:spcAft>
                <a:spcPts val="0"/>
              </a:spcAft>
              <a:buClr>
                <a:schemeClr val="dk1"/>
              </a:buClr>
              <a:buFont typeface="Arial"/>
              <a:buNone/>
            </a:pPr>
            <a:r>
              <a:rPr lang="en-GB" sz="1300">
                <a:solidFill>
                  <a:srgbClr val="F4F5F7"/>
                </a:solidFill>
                <a:latin typeface="Open Sans"/>
                <a:ea typeface="Open Sans"/>
                <a:cs typeface="Open Sans"/>
                <a:sym typeface="Open Sans"/>
              </a:rPr>
              <a:t>The conceptual leap from Random Forest</a:t>
            </a:r>
            <a:endParaRPr sz="1300">
              <a:solidFill>
                <a:schemeClr val="dk1"/>
              </a:solidFill>
              <a:latin typeface="Open Sans"/>
              <a:ea typeface="Open Sans"/>
              <a:cs typeface="Open Sans"/>
              <a:sym typeface="Open Sans"/>
            </a:endParaRPr>
          </a:p>
          <a:p>
            <a:pPr indent="0" lvl="0" marL="0" rtl="0" algn="l">
              <a:spcBef>
                <a:spcPts val="1000"/>
              </a:spcBef>
              <a:spcAft>
                <a:spcPts val="1000"/>
              </a:spcAft>
              <a:buNone/>
            </a:pPr>
            <a:r>
              <a:rPr i="1" lang="en-GB" sz="1300">
                <a:solidFill>
                  <a:schemeClr val="lt1"/>
                </a:solidFill>
                <a:latin typeface="Open Sans"/>
                <a:ea typeface="Open Sans"/>
                <a:cs typeface="Open Sans"/>
                <a:sym typeface="Open Sans"/>
              </a:rPr>
              <a:t>"Random Forest is N independent guesses, averaged.</a:t>
            </a:r>
            <a:r>
              <a:rPr i="1" lang="en-GB" sz="1300">
                <a:solidFill>
                  <a:schemeClr val="dk1"/>
                </a:solidFill>
                <a:latin typeface="Open Sans"/>
                <a:ea typeface="Open Sans"/>
                <a:cs typeface="Open Sans"/>
                <a:sym typeface="Open Sans"/>
              </a:rPr>
              <a:t> </a:t>
            </a:r>
            <a:r>
              <a:rPr i="1" lang="en-GB" sz="1300">
                <a:solidFill>
                  <a:schemeClr val="lt1"/>
                </a:solidFill>
                <a:latin typeface="Open Sans"/>
                <a:ea typeface="Open Sans"/>
                <a:cs typeface="Open Sans"/>
                <a:sym typeface="Open Sans"/>
              </a:rPr>
              <a:t>Boosting is N corrections, stacked."</a:t>
            </a:r>
            <a:endParaRPr i="1">
              <a:solidFill>
                <a:schemeClr val="lt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175" name="Google Shape;175;p24"/>
          <p:cNvSpPr/>
          <p:nvPr/>
        </p:nvSpPr>
        <p:spPr>
          <a:xfrm>
            <a:off x="0" y="0"/>
            <a:ext cx="9143700" cy="1098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76" name="Google Shape;176;p24"/>
          <p:cNvSpPr txBox="1"/>
          <p:nvPr/>
        </p:nvSpPr>
        <p:spPr>
          <a:xfrm>
            <a:off x="411480" y="240030"/>
            <a:ext cx="8229600" cy="35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2300">
                <a:solidFill>
                  <a:srgbClr val="1B2A4A"/>
                </a:solidFill>
                <a:latin typeface="Open Sans"/>
                <a:ea typeface="Open Sans"/>
                <a:cs typeface="Open Sans"/>
                <a:sym typeface="Open Sans"/>
              </a:rPr>
              <a:t>Interpretability vs Accuracy</a:t>
            </a:r>
            <a:endParaRPr sz="1100"/>
          </a:p>
        </p:txBody>
      </p:sp>
      <p:sp>
        <p:nvSpPr>
          <p:cNvPr id="177" name="Google Shape;177;p24"/>
          <p:cNvSpPr txBox="1"/>
          <p:nvPr/>
        </p:nvSpPr>
        <p:spPr>
          <a:xfrm>
            <a:off x="411480" y="685800"/>
            <a:ext cx="822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333D4D"/>
                </a:solidFill>
                <a:latin typeface="Open Sans"/>
                <a:ea typeface="Open Sans"/>
                <a:cs typeface="Open Sans"/>
                <a:sym typeface="Open Sans"/>
              </a:rPr>
              <a:t>The classic trade-off — pick your seat carefully</a:t>
            </a:r>
            <a:endParaRPr sz="1100"/>
          </a:p>
        </p:txBody>
      </p:sp>
      <p:sp>
        <p:nvSpPr>
          <p:cNvPr id="178" name="Google Shape;178;p24"/>
          <p:cNvSpPr/>
          <p:nvPr/>
        </p:nvSpPr>
        <p:spPr>
          <a:xfrm>
            <a:off x="434340" y="1187147"/>
            <a:ext cx="8298300" cy="4047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79" name="Google Shape;179;p24"/>
          <p:cNvSpPr txBox="1"/>
          <p:nvPr/>
        </p:nvSpPr>
        <p:spPr>
          <a:xfrm>
            <a:off x="471379" y="1288262"/>
            <a:ext cx="82296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GB" sz="1300">
                <a:solidFill>
                  <a:srgbClr val="FFFFFF"/>
                </a:solidFill>
                <a:latin typeface="Open Sans"/>
                <a:ea typeface="Open Sans"/>
                <a:cs typeface="Open Sans"/>
                <a:sym typeface="Open Sans"/>
              </a:rPr>
              <a:t>Interpretability  ◄──────────────────────────────────────────────►  Accuracy</a:t>
            </a:r>
            <a:endParaRPr sz="1100"/>
          </a:p>
        </p:txBody>
      </p:sp>
      <p:sp>
        <p:nvSpPr>
          <p:cNvPr id="180" name="Google Shape;180;p24"/>
          <p:cNvSpPr/>
          <p:nvPr/>
        </p:nvSpPr>
        <p:spPr>
          <a:xfrm>
            <a:off x="383700" y="1881175"/>
            <a:ext cx="1645800" cy="19044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81" name="Google Shape;181;p24"/>
          <p:cNvSpPr txBox="1"/>
          <p:nvPr/>
        </p:nvSpPr>
        <p:spPr>
          <a:xfrm>
            <a:off x="383703" y="1984046"/>
            <a:ext cx="1645800" cy="431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Logistic</a:t>
            </a:r>
            <a:endParaRPr sz="1100"/>
          </a:p>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Regression</a:t>
            </a:r>
            <a:endParaRPr sz="1100"/>
          </a:p>
        </p:txBody>
      </p:sp>
      <p:sp>
        <p:nvSpPr>
          <p:cNvPr id="182" name="Google Shape;182;p24"/>
          <p:cNvSpPr txBox="1"/>
          <p:nvPr/>
        </p:nvSpPr>
        <p:spPr>
          <a:xfrm>
            <a:off x="554425" y="2624623"/>
            <a:ext cx="1304400" cy="6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GB" sz="1300">
                <a:solidFill>
                  <a:srgbClr val="1B2A4A"/>
                </a:solidFill>
                <a:latin typeface="Open Sans"/>
                <a:ea typeface="Open Sans"/>
                <a:cs typeface="Open Sans"/>
                <a:sym typeface="Open Sans"/>
              </a:rPr>
              <a:t>Coefficients are direct interpretations</a:t>
            </a:r>
            <a:endParaRPr sz="1300">
              <a:latin typeface="Open Sans"/>
              <a:ea typeface="Open Sans"/>
              <a:cs typeface="Open Sans"/>
              <a:sym typeface="Open Sans"/>
            </a:endParaRPr>
          </a:p>
        </p:txBody>
      </p:sp>
      <p:sp>
        <p:nvSpPr>
          <p:cNvPr id="183" name="Google Shape;183;p24"/>
          <p:cNvSpPr/>
          <p:nvPr/>
        </p:nvSpPr>
        <p:spPr>
          <a:xfrm>
            <a:off x="2070417" y="1881175"/>
            <a:ext cx="1645800" cy="1904400"/>
          </a:xfrm>
          <a:prstGeom prst="rect">
            <a:avLst/>
          </a:prstGeom>
          <a:solidFill>
            <a:srgbClr val="F4F5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84" name="Google Shape;184;p24"/>
          <p:cNvSpPr txBox="1"/>
          <p:nvPr/>
        </p:nvSpPr>
        <p:spPr>
          <a:xfrm>
            <a:off x="2070419" y="1984046"/>
            <a:ext cx="1645800" cy="431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Decision</a:t>
            </a:r>
            <a:endParaRPr sz="1100"/>
          </a:p>
          <a:p>
            <a:pPr indent="0" lvl="0" marL="0" marR="0" rtl="0" algn="ctr">
              <a:spcBef>
                <a:spcPts val="0"/>
              </a:spcBef>
              <a:spcAft>
                <a:spcPts val="0"/>
              </a:spcAft>
              <a:buNone/>
            </a:pPr>
            <a:r>
              <a:rPr b="1" lang="en-GB" sz="1400">
                <a:solidFill>
                  <a:srgbClr val="1B2A4A"/>
                </a:solidFill>
                <a:latin typeface="Open Sans"/>
                <a:ea typeface="Open Sans"/>
                <a:cs typeface="Open Sans"/>
                <a:sym typeface="Open Sans"/>
              </a:rPr>
              <a:t>Tree</a:t>
            </a:r>
            <a:endParaRPr sz="1100"/>
          </a:p>
        </p:txBody>
      </p:sp>
      <p:sp>
        <p:nvSpPr>
          <p:cNvPr id="185" name="Google Shape;185;p24"/>
          <p:cNvSpPr txBox="1"/>
          <p:nvPr/>
        </p:nvSpPr>
        <p:spPr>
          <a:xfrm>
            <a:off x="2283711" y="2624623"/>
            <a:ext cx="1219200" cy="400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GB" sz="1300">
                <a:solidFill>
                  <a:srgbClr val="1B2A4A"/>
                </a:solidFill>
                <a:latin typeface="Open Sans"/>
                <a:ea typeface="Open Sans"/>
                <a:cs typeface="Open Sans"/>
                <a:sym typeface="Open Sans"/>
              </a:rPr>
              <a:t>Visualisable as a flowchart</a:t>
            </a:r>
            <a:endParaRPr sz="1300">
              <a:latin typeface="Open Sans"/>
              <a:ea typeface="Open Sans"/>
              <a:cs typeface="Open Sans"/>
              <a:sym typeface="Open Sans"/>
            </a:endParaRPr>
          </a:p>
        </p:txBody>
      </p:sp>
      <p:sp>
        <p:nvSpPr>
          <p:cNvPr id="186" name="Google Shape;186;p24"/>
          <p:cNvSpPr/>
          <p:nvPr/>
        </p:nvSpPr>
        <p:spPr>
          <a:xfrm>
            <a:off x="3765820" y="1881175"/>
            <a:ext cx="1645800" cy="19044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87" name="Google Shape;187;p24"/>
          <p:cNvSpPr txBox="1"/>
          <p:nvPr/>
        </p:nvSpPr>
        <p:spPr>
          <a:xfrm>
            <a:off x="3765821" y="1984046"/>
            <a:ext cx="1645800" cy="431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FFFFFF"/>
                </a:solidFill>
                <a:latin typeface="Open Sans"/>
                <a:ea typeface="Open Sans"/>
                <a:cs typeface="Open Sans"/>
                <a:sym typeface="Open Sans"/>
              </a:rPr>
              <a:t>Random</a:t>
            </a:r>
            <a:endParaRPr sz="1100"/>
          </a:p>
          <a:p>
            <a:pPr indent="0" lvl="0" marL="0" marR="0" rtl="0" algn="ctr">
              <a:spcBef>
                <a:spcPts val="0"/>
              </a:spcBef>
              <a:spcAft>
                <a:spcPts val="0"/>
              </a:spcAft>
              <a:buNone/>
            </a:pPr>
            <a:r>
              <a:rPr b="1" lang="en-GB" sz="1400">
                <a:solidFill>
                  <a:srgbClr val="FFFFFF"/>
                </a:solidFill>
                <a:latin typeface="Open Sans"/>
                <a:ea typeface="Open Sans"/>
                <a:cs typeface="Open Sans"/>
                <a:sym typeface="Open Sans"/>
              </a:rPr>
              <a:t>Forest</a:t>
            </a:r>
            <a:endParaRPr sz="1100"/>
          </a:p>
        </p:txBody>
      </p:sp>
      <p:sp>
        <p:nvSpPr>
          <p:cNvPr id="188" name="Google Shape;188;p24"/>
          <p:cNvSpPr txBox="1"/>
          <p:nvPr/>
        </p:nvSpPr>
        <p:spPr>
          <a:xfrm>
            <a:off x="3876674" y="2624623"/>
            <a:ext cx="1424100" cy="6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GB" sz="1300">
                <a:solidFill>
                  <a:srgbClr val="FFFFFF"/>
                </a:solidFill>
                <a:latin typeface="Open Sans"/>
                <a:ea typeface="Open Sans"/>
                <a:cs typeface="Open Sans"/>
                <a:sym typeface="Open Sans"/>
              </a:rPr>
              <a:t>Feature importance still intuitive</a:t>
            </a:r>
            <a:endParaRPr sz="1300">
              <a:latin typeface="Open Sans"/>
              <a:ea typeface="Open Sans"/>
              <a:cs typeface="Open Sans"/>
              <a:sym typeface="Open Sans"/>
            </a:endParaRPr>
          </a:p>
        </p:txBody>
      </p:sp>
      <p:sp>
        <p:nvSpPr>
          <p:cNvPr id="189" name="Google Shape;189;p24"/>
          <p:cNvSpPr/>
          <p:nvPr/>
        </p:nvSpPr>
        <p:spPr>
          <a:xfrm>
            <a:off x="5478583" y="1881175"/>
            <a:ext cx="1645800" cy="1904400"/>
          </a:xfrm>
          <a:prstGeom prst="rect">
            <a:avLst/>
          </a:prstGeom>
          <a:solidFill>
            <a:srgbClr val="2C569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90" name="Google Shape;190;p24"/>
          <p:cNvSpPr txBox="1"/>
          <p:nvPr/>
        </p:nvSpPr>
        <p:spPr>
          <a:xfrm>
            <a:off x="5478584" y="1984046"/>
            <a:ext cx="1645800" cy="431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FFFFFF"/>
                </a:solidFill>
                <a:latin typeface="Open Sans"/>
                <a:ea typeface="Open Sans"/>
                <a:cs typeface="Open Sans"/>
                <a:sym typeface="Open Sans"/>
              </a:rPr>
              <a:t>Gradient</a:t>
            </a:r>
            <a:endParaRPr sz="1100"/>
          </a:p>
          <a:p>
            <a:pPr indent="0" lvl="0" marL="0" marR="0" rtl="0" algn="ctr">
              <a:spcBef>
                <a:spcPts val="0"/>
              </a:spcBef>
              <a:spcAft>
                <a:spcPts val="0"/>
              </a:spcAft>
              <a:buNone/>
            </a:pPr>
            <a:r>
              <a:rPr b="1" lang="en-GB" sz="1400">
                <a:solidFill>
                  <a:srgbClr val="FFFFFF"/>
                </a:solidFill>
                <a:latin typeface="Open Sans"/>
                <a:ea typeface="Open Sans"/>
                <a:cs typeface="Open Sans"/>
                <a:sym typeface="Open Sans"/>
              </a:rPr>
              <a:t>Boosting</a:t>
            </a:r>
            <a:endParaRPr sz="1100"/>
          </a:p>
        </p:txBody>
      </p:sp>
      <p:sp>
        <p:nvSpPr>
          <p:cNvPr id="191" name="Google Shape;191;p24"/>
          <p:cNvSpPr txBox="1"/>
          <p:nvPr/>
        </p:nvSpPr>
        <p:spPr>
          <a:xfrm>
            <a:off x="5649287" y="2624623"/>
            <a:ext cx="1304400" cy="800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GB" sz="1300">
                <a:solidFill>
                  <a:srgbClr val="FFFFFF"/>
                </a:solidFill>
                <a:latin typeface="Open Sans"/>
                <a:ea typeface="Open Sans"/>
                <a:cs typeface="Open Sans"/>
                <a:sym typeface="Open Sans"/>
              </a:rPr>
              <a:t>SHAP values needed for individual predictions</a:t>
            </a:r>
            <a:endParaRPr sz="1300">
              <a:latin typeface="Open Sans"/>
              <a:ea typeface="Open Sans"/>
              <a:cs typeface="Open Sans"/>
              <a:sym typeface="Open Sans"/>
            </a:endParaRPr>
          </a:p>
        </p:txBody>
      </p:sp>
      <p:sp>
        <p:nvSpPr>
          <p:cNvPr id="192" name="Google Shape;192;p24"/>
          <p:cNvSpPr/>
          <p:nvPr/>
        </p:nvSpPr>
        <p:spPr>
          <a:xfrm>
            <a:off x="7174850" y="1881175"/>
            <a:ext cx="1645800" cy="1904400"/>
          </a:xfrm>
          <a:prstGeom prst="rect">
            <a:avLst/>
          </a:prstGeom>
          <a:solidFill>
            <a:srgbClr val="C8102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193" name="Google Shape;193;p24"/>
          <p:cNvSpPr txBox="1"/>
          <p:nvPr/>
        </p:nvSpPr>
        <p:spPr>
          <a:xfrm>
            <a:off x="7174849" y="1984046"/>
            <a:ext cx="1645800" cy="431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1400">
                <a:solidFill>
                  <a:srgbClr val="FFFFFF"/>
                </a:solidFill>
                <a:latin typeface="Open Sans"/>
                <a:ea typeface="Open Sans"/>
                <a:cs typeface="Open Sans"/>
                <a:sym typeface="Open Sans"/>
              </a:rPr>
              <a:t>Neural</a:t>
            </a:r>
            <a:endParaRPr sz="1100"/>
          </a:p>
          <a:p>
            <a:pPr indent="0" lvl="0" marL="0" marR="0" rtl="0" algn="ctr">
              <a:spcBef>
                <a:spcPts val="0"/>
              </a:spcBef>
              <a:spcAft>
                <a:spcPts val="0"/>
              </a:spcAft>
              <a:buNone/>
            </a:pPr>
            <a:r>
              <a:rPr b="1" lang="en-GB" sz="1400">
                <a:solidFill>
                  <a:srgbClr val="FFFFFF"/>
                </a:solidFill>
                <a:latin typeface="Open Sans"/>
                <a:ea typeface="Open Sans"/>
                <a:cs typeface="Open Sans"/>
                <a:sym typeface="Open Sans"/>
              </a:rPr>
              <a:t>Network</a:t>
            </a:r>
            <a:endParaRPr sz="1100"/>
          </a:p>
        </p:txBody>
      </p:sp>
      <p:sp>
        <p:nvSpPr>
          <p:cNvPr id="194" name="Google Shape;194;p24"/>
          <p:cNvSpPr txBox="1"/>
          <p:nvPr/>
        </p:nvSpPr>
        <p:spPr>
          <a:xfrm>
            <a:off x="7294525" y="2624623"/>
            <a:ext cx="1406400" cy="6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GB" sz="1300">
                <a:solidFill>
                  <a:srgbClr val="FFFFFF"/>
                </a:solidFill>
                <a:latin typeface="Open Sans"/>
                <a:ea typeface="Open Sans"/>
                <a:cs typeface="Open Sans"/>
                <a:sym typeface="Open Sans"/>
              </a:rPr>
              <a:t>Mostly opaque (saliency, attention, etc.)</a:t>
            </a:r>
            <a:endParaRPr sz="1300">
              <a:latin typeface="Open Sans"/>
              <a:ea typeface="Open Sans"/>
              <a:cs typeface="Open Sans"/>
              <a:sym typeface="Open Sans"/>
            </a:endParaRPr>
          </a:p>
        </p:txBody>
      </p:sp>
      <p:sp>
        <p:nvSpPr>
          <p:cNvPr id="195" name="Google Shape;195;p24"/>
          <p:cNvSpPr txBox="1"/>
          <p:nvPr/>
        </p:nvSpPr>
        <p:spPr>
          <a:xfrm>
            <a:off x="411480" y="4053161"/>
            <a:ext cx="829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2C5697"/>
                </a:solidFill>
                <a:latin typeface="Open Sans"/>
                <a:ea typeface="Open Sans"/>
                <a:cs typeface="Open Sans"/>
                <a:sym typeface="Open Sans"/>
              </a:rPr>
              <a:t>For NorthStar:</a:t>
            </a:r>
            <a:endParaRPr sz="1100"/>
          </a:p>
        </p:txBody>
      </p:sp>
      <p:sp>
        <p:nvSpPr>
          <p:cNvPr id="196" name="Google Shape;196;p24"/>
          <p:cNvSpPr txBox="1"/>
          <p:nvPr/>
        </p:nvSpPr>
        <p:spPr>
          <a:xfrm>
            <a:off x="411480" y="4361211"/>
            <a:ext cx="829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333D4D"/>
                </a:solidFill>
                <a:latin typeface="Open Sans"/>
                <a:ea typeface="Open Sans"/>
                <a:cs typeface="Open Sans"/>
                <a:sym typeface="Open Sans"/>
              </a:rPr>
              <a:t>Gradient Boosting strikes the right balance — feature importance is reportable to Marcus, F1 beats RF.</a:t>
            </a:r>
            <a:endParaRPr sz="1300">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5"/>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203" name="Google Shape;203;p25"/>
          <p:cNvSpPr/>
          <p:nvPr/>
        </p:nvSpPr>
        <p:spPr>
          <a:xfrm>
            <a:off x="0" y="0"/>
            <a:ext cx="9143700" cy="5143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204" name="Google Shape;204;p25"/>
          <p:cNvSpPr txBox="1"/>
          <p:nvPr/>
        </p:nvSpPr>
        <p:spPr>
          <a:xfrm>
            <a:off x="548640" y="548640"/>
            <a:ext cx="80238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chemeClr val="accent6"/>
                </a:solidFill>
                <a:latin typeface="Open Sans"/>
                <a:ea typeface="Open Sans"/>
                <a:cs typeface="Open Sans"/>
                <a:sym typeface="Open Sans"/>
              </a:rPr>
              <a:t>Bridge to L05</a:t>
            </a:r>
            <a:endParaRPr sz="1100">
              <a:solidFill>
                <a:schemeClr val="accent6"/>
              </a:solidFill>
            </a:endParaRPr>
          </a:p>
        </p:txBody>
      </p:sp>
      <p:sp>
        <p:nvSpPr>
          <p:cNvPr id="205" name="Google Shape;205;p25"/>
          <p:cNvSpPr txBox="1"/>
          <p:nvPr/>
        </p:nvSpPr>
        <p:spPr>
          <a:xfrm>
            <a:off x="548640" y="1060625"/>
            <a:ext cx="73383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Marcus, after Friday</a:t>
            </a:r>
            <a:r>
              <a:rPr lang="en-GB" sz="1300">
                <a:solidFill>
                  <a:srgbClr val="F4F5F7"/>
                </a:solidFill>
                <a:latin typeface="Open Sans"/>
                <a:ea typeface="Open Sans"/>
                <a:cs typeface="Open Sans"/>
                <a:sym typeface="Open Sans"/>
              </a:rPr>
              <a:t>’s</a:t>
            </a:r>
            <a:r>
              <a:rPr b="0" lang="en-GB" sz="1300">
                <a:solidFill>
                  <a:srgbClr val="F4F5F7"/>
                </a:solidFill>
                <a:latin typeface="Open Sans"/>
                <a:ea typeface="Open Sans"/>
                <a:cs typeface="Open Sans"/>
                <a:sym typeface="Open Sans"/>
              </a:rPr>
              <a:t> </a:t>
            </a:r>
            <a:r>
              <a:rPr lang="en-GB" sz="1300">
                <a:solidFill>
                  <a:srgbClr val="F4F5F7"/>
                </a:solidFill>
                <a:latin typeface="Open Sans"/>
                <a:ea typeface="Open Sans"/>
                <a:cs typeface="Open Sans"/>
                <a:sym typeface="Open Sans"/>
              </a:rPr>
              <a:t>presentation</a:t>
            </a:r>
            <a:r>
              <a:rPr b="0" lang="en-GB" sz="1300">
                <a:solidFill>
                  <a:srgbClr val="F4F5F7"/>
                </a:solidFill>
                <a:latin typeface="Open Sans"/>
                <a:ea typeface="Open Sans"/>
                <a:cs typeface="Open Sans"/>
                <a:sym typeface="Open Sans"/>
              </a:rPr>
              <a:t>:</a:t>
            </a:r>
            <a:endParaRPr sz="1100"/>
          </a:p>
        </p:txBody>
      </p:sp>
      <p:sp>
        <p:nvSpPr>
          <p:cNvPr id="206" name="Google Shape;206;p25"/>
          <p:cNvSpPr txBox="1"/>
          <p:nvPr/>
        </p:nvSpPr>
        <p:spPr>
          <a:xfrm>
            <a:off x="1105300" y="1692250"/>
            <a:ext cx="6636300" cy="1164000"/>
          </a:xfrm>
          <a:prstGeom prst="rect">
            <a:avLst/>
          </a:prstGeom>
          <a:noFill/>
          <a:ln cap="flat" cmpd="sng" w="9525">
            <a:solidFill>
              <a:schemeClr val="accent1"/>
            </a:solidFill>
            <a:prstDash val="solid"/>
            <a:round/>
            <a:headEnd len="sm" w="sm" type="none"/>
            <a:tailEnd len="sm" w="sm" type="none"/>
          </a:ln>
        </p:spPr>
        <p:txBody>
          <a:bodyPr anchorCtr="0" anchor="t" bIns="180000" lIns="180000" spcFirstLastPara="1" rIns="180000" wrap="square" tIns="180000">
            <a:spAutoFit/>
          </a:bodyPr>
          <a:lstStyle/>
          <a:p>
            <a:pPr indent="0" lvl="0" marL="0" marR="0" rtl="0" algn="l">
              <a:spcBef>
                <a:spcPts val="0"/>
              </a:spcBef>
              <a:spcAft>
                <a:spcPts val="0"/>
              </a:spcAft>
              <a:buNone/>
            </a:pPr>
            <a:r>
              <a:rPr i="1" lang="en-GB" sz="1300">
                <a:solidFill>
                  <a:srgbClr val="FFFFFF"/>
                </a:solidFill>
                <a:latin typeface="Open Sans"/>
                <a:ea typeface="Open Sans"/>
                <a:cs typeface="Open Sans"/>
                <a:sym typeface="Open Sans"/>
              </a:rPr>
              <a:t>"Ship the Random Forest model. Now — what about the customers who DON'T churn but also don't log in for a year?</a:t>
            </a:r>
            <a:endParaRPr i="1" sz="1300">
              <a:solidFill>
                <a:srgbClr val="FFFFFF"/>
              </a:solidFill>
              <a:latin typeface="Open Sans"/>
              <a:ea typeface="Open Sans"/>
              <a:cs typeface="Open Sans"/>
              <a:sym typeface="Open Sans"/>
            </a:endParaRPr>
          </a:p>
          <a:p>
            <a:pPr indent="0" lvl="0" marL="0" marR="0" rtl="0" algn="l">
              <a:spcBef>
                <a:spcPts val="0"/>
              </a:spcBef>
              <a:spcAft>
                <a:spcPts val="0"/>
              </a:spcAft>
              <a:buNone/>
            </a:pPr>
            <a:r>
              <a:t/>
            </a:r>
            <a:endParaRPr i="1" sz="1300">
              <a:solidFill>
                <a:srgbClr val="FFFFFF"/>
              </a:solidFill>
              <a:latin typeface="Open Sans"/>
              <a:ea typeface="Open Sans"/>
              <a:cs typeface="Open Sans"/>
              <a:sym typeface="Open Sans"/>
            </a:endParaRPr>
          </a:p>
          <a:p>
            <a:pPr indent="0" lvl="0" marL="0" marR="0" rtl="0" algn="l">
              <a:spcBef>
                <a:spcPts val="0"/>
              </a:spcBef>
              <a:spcAft>
                <a:spcPts val="0"/>
              </a:spcAft>
              <a:buNone/>
            </a:pPr>
            <a:r>
              <a:rPr i="1" lang="en-GB" sz="1300">
                <a:solidFill>
                  <a:srgbClr val="FFFFFF"/>
                </a:solidFill>
                <a:latin typeface="Open Sans"/>
                <a:ea typeface="Open Sans"/>
                <a:cs typeface="Open Sans"/>
                <a:sym typeface="Open Sans"/>
              </a:rPr>
              <a:t>Can we find natural CLUSTERS of customer behaviour? Without labels?"</a:t>
            </a:r>
            <a:endParaRPr i="1" sz="1300">
              <a:solidFill>
                <a:srgbClr val="FFFFFF"/>
              </a:solidFill>
              <a:latin typeface="Open Sans"/>
              <a:ea typeface="Open Sans"/>
              <a:cs typeface="Open Sans"/>
              <a:sym typeface="Open Sans"/>
            </a:endParaRPr>
          </a:p>
        </p:txBody>
      </p:sp>
      <p:sp>
        <p:nvSpPr>
          <p:cNvPr id="207" name="Google Shape;207;p25"/>
          <p:cNvSpPr txBox="1"/>
          <p:nvPr/>
        </p:nvSpPr>
        <p:spPr>
          <a:xfrm>
            <a:off x="548650" y="3423800"/>
            <a:ext cx="774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600">
                <a:solidFill>
                  <a:schemeClr val="accent6"/>
                </a:solidFill>
                <a:latin typeface="Open Sans"/>
                <a:ea typeface="Open Sans"/>
                <a:cs typeface="Open Sans"/>
                <a:sym typeface="Open Sans"/>
              </a:rPr>
              <a:t>Lesson 5 — Unsupervised Learning</a:t>
            </a:r>
            <a:endParaRPr b="1" sz="1600">
              <a:solidFill>
                <a:schemeClr val="accent6"/>
              </a:solidFill>
              <a:latin typeface="Open Sans"/>
              <a:ea typeface="Open Sans"/>
              <a:cs typeface="Open Sans"/>
              <a:sym typeface="Open Sans"/>
            </a:endParaRPr>
          </a:p>
        </p:txBody>
      </p:sp>
      <p:sp>
        <p:nvSpPr>
          <p:cNvPr id="208" name="Google Shape;208;p25"/>
          <p:cNvSpPr txBox="1"/>
          <p:nvPr/>
        </p:nvSpPr>
        <p:spPr>
          <a:xfrm>
            <a:off x="548650" y="380099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F4F5F7"/>
                </a:solidFill>
                <a:latin typeface="Open Sans"/>
                <a:ea typeface="Open Sans"/>
                <a:cs typeface="Open Sans"/>
                <a:sym typeface="Open Sans"/>
              </a:rPr>
              <a:t>k-means · hierarchical clustering · DBSCAN · anomaly detection · dimensionality reduction (PCA)</a:t>
            </a:r>
            <a:endParaRPr sz="1300">
              <a:solidFill>
                <a:srgbClr val="F4F5F7"/>
              </a:solidFill>
              <a:latin typeface="Open Sans"/>
              <a:ea typeface="Open Sans"/>
              <a:cs typeface="Open Sans"/>
              <a:sym typeface="Open Sans"/>
            </a:endParaRPr>
          </a:p>
        </p:txBody>
      </p:sp>
      <p:sp>
        <p:nvSpPr>
          <p:cNvPr id="209" name="Google Shape;209;p25"/>
          <p:cNvSpPr txBox="1"/>
          <p:nvPr/>
        </p:nvSpPr>
        <p:spPr>
          <a:xfrm>
            <a:off x="548650" y="417818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1300">
                <a:solidFill>
                  <a:srgbClr val="DDE1E6"/>
                </a:solidFill>
                <a:latin typeface="Open Sans"/>
                <a:ea typeface="Open Sans"/>
                <a:cs typeface="Open Sans"/>
                <a:sym typeface="Open Sans"/>
              </a:rPr>
              <a:t>No target column. Just data and structure.</a:t>
            </a:r>
            <a:endParaRPr b="1" sz="1300">
              <a:solidFill>
                <a:srgbClr val="DDE1E6"/>
              </a:solidFill>
              <a:latin typeface="Open Sans"/>
              <a:ea typeface="Open Sans"/>
              <a:cs typeface="Open Sans"/>
              <a:sym typeface="Open Sans"/>
            </a:endParaRPr>
          </a:p>
        </p:txBody>
      </p:sp>
      <p:sp>
        <p:nvSpPr>
          <p:cNvPr id="210" name="Google Shape;210;p25"/>
          <p:cNvSpPr txBox="1"/>
          <p:nvPr/>
        </p:nvSpPr>
        <p:spPr>
          <a:xfrm>
            <a:off x="548650" y="4521080"/>
            <a:ext cx="77496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300">
                <a:solidFill>
                  <a:srgbClr val="F4F5F7"/>
                </a:solidFill>
                <a:latin typeface="Open Sans"/>
                <a:ea typeface="Open Sans"/>
                <a:cs typeface="Open Sans"/>
                <a:sym typeface="Open Sans"/>
              </a:rPr>
              <a:t>Before L05 — finish the Kaggle competition in notebooks/assignment.ipynb.</a:t>
            </a:r>
            <a:endParaRPr sz="1300">
              <a:solidFill>
                <a:srgbClr val="F4F5F7"/>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p:nvPr/>
        </p:nvSpPr>
        <p:spPr>
          <a:xfrm>
            <a:off x="0" y="5088636"/>
            <a:ext cx="9143700" cy="54900"/>
          </a:xfrm>
          <a:prstGeom prst="rect">
            <a:avLst/>
          </a:prstGeom>
          <a:solidFill>
            <a:srgbClr val="C8102E"/>
          </a:solidFill>
          <a:ln cap="flat" cmpd="sng" w="9525">
            <a:solidFill>
              <a:srgbClr val="C8102E"/>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Open Sans"/>
              <a:ea typeface="Open Sans"/>
              <a:cs typeface="Open Sans"/>
              <a:sym typeface="Open Sans"/>
            </a:endParaRPr>
          </a:p>
        </p:txBody>
      </p:sp>
      <p:sp>
        <p:nvSpPr>
          <p:cNvPr id="217" name="Google Shape;217;p26"/>
          <p:cNvSpPr/>
          <p:nvPr/>
        </p:nvSpPr>
        <p:spPr>
          <a:xfrm>
            <a:off x="0" y="0"/>
            <a:ext cx="9143700" cy="5143500"/>
          </a:xfrm>
          <a:prstGeom prst="rect">
            <a:avLst/>
          </a:prstGeom>
          <a:solidFill>
            <a:srgbClr val="1B2A4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Open Sans"/>
              <a:ea typeface="Open Sans"/>
              <a:cs typeface="Open Sans"/>
              <a:sym typeface="Open Sans"/>
            </a:endParaRPr>
          </a:p>
        </p:txBody>
      </p:sp>
      <p:sp>
        <p:nvSpPr>
          <p:cNvPr id="218" name="Google Shape;218;p26"/>
          <p:cNvSpPr txBox="1"/>
          <p:nvPr/>
        </p:nvSpPr>
        <p:spPr>
          <a:xfrm>
            <a:off x="548640" y="1508760"/>
            <a:ext cx="8023800" cy="631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GB" sz="4100">
                <a:solidFill>
                  <a:schemeClr val="accent6"/>
                </a:solidFill>
                <a:latin typeface="Open Sans"/>
                <a:ea typeface="Open Sans"/>
                <a:cs typeface="Open Sans"/>
                <a:sym typeface="Open Sans"/>
              </a:rPr>
              <a:t>See You in L05</a:t>
            </a:r>
            <a:endParaRPr sz="1100">
              <a:solidFill>
                <a:schemeClr val="accent6"/>
              </a:solidFill>
            </a:endParaRPr>
          </a:p>
        </p:txBody>
      </p:sp>
      <p:sp>
        <p:nvSpPr>
          <p:cNvPr id="219" name="Google Shape;219;p26"/>
          <p:cNvSpPr txBox="1"/>
          <p:nvPr/>
        </p:nvSpPr>
        <p:spPr>
          <a:xfrm>
            <a:off x="548640" y="2468880"/>
            <a:ext cx="80238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600">
                <a:solidFill>
                  <a:srgbClr val="F4F5F7"/>
                </a:solidFill>
                <a:latin typeface="Open Sans"/>
                <a:ea typeface="Open Sans"/>
                <a:cs typeface="Open Sans"/>
                <a:sym typeface="Open Sans"/>
              </a:rPr>
              <a:t>Unsupervised Learning — k-means · hierarchical clustering · anomaly detection · PCA</a:t>
            </a:r>
            <a:endParaRPr sz="1100"/>
          </a:p>
        </p:txBody>
      </p:sp>
      <p:sp>
        <p:nvSpPr>
          <p:cNvPr id="220" name="Google Shape;220;p26"/>
          <p:cNvSpPr txBox="1"/>
          <p:nvPr/>
        </p:nvSpPr>
        <p:spPr>
          <a:xfrm>
            <a:off x="548640" y="3086100"/>
            <a:ext cx="8023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DDE1E6"/>
                </a:solidFill>
                <a:latin typeface="Open Sans"/>
                <a:ea typeface="Open Sans"/>
                <a:cs typeface="Open Sans"/>
                <a:sym typeface="Open Sans"/>
              </a:rPr>
              <a:t>Before then: finish the Kaggle competition in </a:t>
            </a:r>
            <a:r>
              <a:rPr lang="en-GB" sz="1300">
                <a:solidFill>
                  <a:srgbClr val="00FF00"/>
                </a:solidFill>
                <a:latin typeface="Consolas"/>
                <a:ea typeface="Consolas"/>
                <a:cs typeface="Consolas"/>
                <a:sym typeface="Consolas"/>
              </a:rPr>
              <a:t>notebooks/assignment.ipynb</a:t>
            </a:r>
            <a:endParaRPr sz="1100">
              <a:solidFill>
                <a:srgbClr val="00FF00"/>
              </a:solidFill>
              <a:latin typeface="Consolas"/>
              <a:ea typeface="Consolas"/>
              <a:cs typeface="Consolas"/>
              <a:sym typeface="Consolas"/>
            </a:endParaRPr>
          </a:p>
        </p:txBody>
      </p:sp>
      <p:sp>
        <p:nvSpPr>
          <p:cNvPr id="221" name="Google Shape;221;p26"/>
          <p:cNvSpPr txBox="1"/>
          <p:nvPr/>
        </p:nvSpPr>
        <p:spPr>
          <a:xfrm>
            <a:off x="548640" y="3703320"/>
            <a:ext cx="8023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GB" sz="1300">
                <a:solidFill>
                  <a:srgbClr val="F4F5F7"/>
                </a:solidFill>
                <a:latin typeface="Open Sans"/>
                <a:ea typeface="Open Sans"/>
                <a:cs typeface="Open Sans"/>
                <a:sym typeface="Open Sans"/>
              </a:rPr>
              <a:t>And consider XGBoost or LightGBM in </a:t>
            </a:r>
            <a:r>
              <a:rPr lang="en-GB" sz="1300">
                <a:solidFill>
                  <a:srgbClr val="00FF00"/>
                </a:solidFill>
                <a:latin typeface="Consolas"/>
                <a:ea typeface="Consolas"/>
                <a:cs typeface="Consolas"/>
                <a:sym typeface="Consolas"/>
              </a:rPr>
              <a:t>optional_extensions.ipynb</a:t>
            </a:r>
            <a:endParaRPr sz="1300">
              <a:solidFill>
                <a:srgbClr val="00FF00"/>
              </a:solidFill>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TU SCTP">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